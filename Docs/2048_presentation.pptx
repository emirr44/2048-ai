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</p:sldIdLst>
  <p:sldSz cx="18288000" cy="10287000"/>
  <p:notesSz cx="6858000" cy="9144000"/>
  <p:embeddedFontLst>
    <p:embeddedFont>
      <p:font typeface="Bricolage Grotesque" panose="020B0604020202020204" charset="0"/>
      <p:regular r:id="rId20"/>
      <p:bold r:id="rId21"/>
    </p:embeddedFont>
    <p:embeddedFont>
      <p:font typeface="Questrial" pitchFamily="2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356674" y="4923861"/>
            <a:ext cx="6886575" cy="2959696"/>
            <a:chOff x="0" y="-47625"/>
            <a:chExt cx="9182100" cy="3946261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2530493"/>
              <a:ext cx="9182100" cy="13681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491" b="0" i="0" u="none" strike="noStrike" cap="none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2048 AI Agent</a:t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47625"/>
              <a:ext cx="9182100" cy="4938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 txBox="1"/>
          <p:nvPr/>
        </p:nvSpPr>
        <p:spPr>
          <a:xfrm>
            <a:off x="556399" y="8617655"/>
            <a:ext cx="16243112" cy="88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Emir Baručija,</a:t>
            </a:r>
            <a:endParaRPr/>
          </a:p>
          <a:p>
            <a:pPr marL="0" marR="0" lvl="0" indent="0" algn="l" rtl="0">
              <a:lnSpc>
                <a:spcPct val="124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Faculty of Electrical Engineering, Sarajevo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382328" y="4545931"/>
            <a:ext cx="8168371" cy="136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is 2048?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1615600" y="1387100"/>
            <a:ext cx="77304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What is 2048?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843481" y="2876021"/>
            <a:ext cx="16243112" cy="534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359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3664" marR="0" lvl="1" indent="-366832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8"/>
              <a:buFont typeface="Arial"/>
              <a:buChar char="•"/>
            </a:pPr>
            <a:r>
              <a:rPr lang="en-US" sz="33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2048 is a single player sliding block puzzle game in which the objective of the game is to slide numbered tiles on a grid to combine them in order to generate a tile with the value of 2048, or even higher</a:t>
            </a:r>
            <a:endParaRPr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98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66832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8"/>
              <a:buFont typeface="Arial"/>
              <a:buChar char="•"/>
            </a:pPr>
            <a:r>
              <a:rPr lang="en-US" sz="33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the game is played on a 4x4 grid with numbered tiles that slide in one of four directions where the tiles slide as far as possible in the chosen direction</a:t>
            </a:r>
            <a:endParaRPr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98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66832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8"/>
              <a:buFont typeface="Arial"/>
              <a:buChar char="•"/>
            </a:pPr>
            <a:r>
              <a:rPr lang="en-US" sz="33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tiles slide until they are stopped by another tile or the edge, and if two of the same numbered tiles collide, they merge into a tile with double the value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2099255" y="1591582"/>
            <a:ext cx="5811968" cy="5811968"/>
          </a:xfrm>
          <a:custGeom>
            <a:avLst/>
            <a:gdLst/>
            <a:ahLst/>
            <a:cxnLst/>
            <a:rect l="l" t="t" r="r" b="b"/>
            <a:pathLst>
              <a:path w="5811968" h="5811968" extrusionOk="0">
                <a:moveTo>
                  <a:pt x="0" y="0"/>
                </a:moveTo>
                <a:lnTo>
                  <a:pt x="5811968" y="0"/>
                </a:lnTo>
                <a:lnTo>
                  <a:pt x="5811968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5" name="Google Shape;105;p16"/>
          <p:cNvSpPr txBox="1"/>
          <p:nvPr/>
        </p:nvSpPr>
        <p:spPr>
          <a:xfrm>
            <a:off x="2099255" y="8012631"/>
            <a:ext cx="5811968" cy="45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example state in 2048 game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9144000" y="1805154"/>
            <a:ext cx="7917600" cy="77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66832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8"/>
              <a:buFont typeface="Arial"/>
              <a:buChar char="•"/>
            </a:pPr>
            <a:r>
              <a:rPr lang="en-US" sz="33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the theoretical maximum tile is 2^17, giving 18 possible values per cell, meaning 2048 has ≈ 2.8 × 1020 possible states</a:t>
            </a:r>
            <a:endParaRPr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98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66832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8"/>
              <a:buFont typeface="Arial"/>
              <a:buChar char="•"/>
            </a:pPr>
            <a:r>
              <a:rPr lang="en-US" sz="33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however, not all states are reachable</a:t>
            </a:r>
            <a:endParaRPr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98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66832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8"/>
              <a:buFont typeface="Arial"/>
              <a:buChar char="•"/>
            </a:pPr>
            <a:r>
              <a:rPr lang="en-US" sz="33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researchers have estimated the number of actually reachable states to be on the order of ~10^15 to 10^16, though an exact count is computationally difficult to determine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/>
        </p:nvSpPr>
        <p:spPr>
          <a:xfrm>
            <a:off x="11315803" y="422559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-1004795" y="4617701"/>
            <a:ext cx="10656412" cy="1368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AI Agents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/>
        </p:nvSpPr>
        <p:spPr>
          <a:xfrm>
            <a:off x="768109" y="1923000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I employed 5 agents to play 2048 game: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Random - picks a random legal move, without lookahead or evaluation. Baseline for the others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Priority - greedy, looks one move ahead with the heuristic and a preferred move order as tiebreaker. Plays like a human without a plan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Expectimax - searches the game tree and accounts for randomness of tile spawns, hand-written heuristic at the leaves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TD N-Tuple - learned value function, trained by self-play. Plays greedily one move deep, no search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TD + Expectimax - the same learned values used to evaluate the leaves of the expectimax search</a:t>
            </a:r>
            <a:endParaRPr sz="3100"/>
          </a:p>
        </p:txBody>
      </p:sp>
      <p:sp>
        <p:nvSpPr>
          <p:cNvPr id="118" name="Google Shape;118;p18"/>
          <p:cNvSpPr txBox="1"/>
          <p:nvPr/>
        </p:nvSpPr>
        <p:spPr>
          <a:xfrm>
            <a:off x="604654" y="956475"/>
            <a:ext cx="9318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Who can play 2048?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975629" y="3836318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Expectimax - or how to win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1028700" y="956475"/>
            <a:ext cx="79020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Why expectimax?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723864" y="2565016"/>
            <a:ext cx="16243200" cy="76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2048 is not a purely adversarial game, tiles spawn randomly, not strategically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Minimax assumes a worst-case opponent, which is too pessimistic here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Expectimax handles randomness by computing probability-weighted averages instead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The game tree alternates between two node types: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       Max node (player's turn) </a:t>
            </a:r>
            <a:endParaRPr sz="31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       Chance node (tile spawn) 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At the bottom of the tree, the heuristic function evaluates the board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0" y="860792"/>
            <a:ext cx="10140144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Optimization improvements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913309" y="2570922"/>
            <a:ext cx="16243200" cy="7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Transposition table - caches evaluated board states to avoid recomputing identical positions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Probability pruning - cuts branches where cumulative probability drops below 0.0001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Adaptive depth - 6 plies on an open board, up to 10 when two or fewer cells are empty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Iterative deepening - searches depth 1, 2, 3... each pass warms the cache for the next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How much this optimizes algorithm depends on depth and number of empty cells. For comparison, at depth 4 with 4 empty cells, vanilla algorithm explores ~500K states, while my implementation explores ~30K–60K states</a:t>
            </a:r>
            <a:endParaRPr sz="31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/>
          <p:nvPr/>
        </p:nvSpPr>
        <p:spPr>
          <a:xfrm>
            <a:off x="0" y="320040"/>
            <a:ext cx="18288000" cy="9646920"/>
          </a:xfrm>
          <a:custGeom>
            <a:avLst/>
            <a:gdLst/>
            <a:ahLst/>
            <a:cxnLst/>
            <a:rect l="l" t="t" r="r" b="b"/>
            <a:pathLst>
              <a:path w="18288000" h="9646920" extrusionOk="0">
                <a:moveTo>
                  <a:pt x="0" y="0"/>
                </a:moveTo>
                <a:lnTo>
                  <a:pt x="18288000" y="0"/>
                </a:lnTo>
                <a:lnTo>
                  <a:pt x="18288000" y="9646920"/>
                </a:lnTo>
                <a:lnTo>
                  <a:pt x="0" y="9646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975629" y="3673473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Heuristics - brain of the AI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6822887" y="3479159"/>
            <a:ext cx="4776223" cy="4776223"/>
          </a:xfrm>
          <a:custGeom>
            <a:avLst/>
            <a:gdLst/>
            <a:ahLst/>
            <a:cxnLst/>
            <a:rect l="l" t="t" r="r" b="b"/>
            <a:pathLst>
              <a:path w="4776223" h="4776223" extrusionOk="0">
                <a:moveTo>
                  <a:pt x="0" y="0"/>
                </a:moveTo>
                <a:lnTo>
                  <a:pt x="4776223" y="0"/>
                </a:lnTo>
                <a:lnTo>
                  <a:pt x="4776223" y="4776223"/>
                </a:lnTo>
                <a:lnTo>
                  <a:pt x="0" y="47762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3" name="Google Shape;153;p24"/>
          <p:cNvSpPr txBox="1"/>
          <p:nvPr/>
        </p:nvSpPr>
        <p:spPr>
          <a:xfrm>
            <a:off x="5442571" y="676275"/>
            <a:ext cx="10638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Heuristics Overview</a:t>
            </a:r>
            <a:endParaRPr/>
          </a:p>
        </p:txBody>
      </p:sp>
      <p:sp>
        <p:nvSpPr>
          <p:cNvPr id="154" name="TextBox 154"/>
          <p:cNvSpPr txBox="1"/>
          <p:nvPr/>
        </p:nvSpPr>
        <p:spPr>
          <a:xfrm>
            <a:off x="6500000" y="2350000"/>
            <a:ext cx="5400000" cy="46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Empty cells</a:t>
            </a:r>
            <a:endParaRPr/>
          </a:p>
        </p:txBody>
      </p:sp>
      <p:sp>
        <p:nvSpPr>
          <p:cNvPr id="155" name="TextBox 155"/>
          <p:cNvSpPr txBox="1"/>
          <p:nvPr/>
        </p:nvSpPr>
        <p:spPr>
          <a:xfrm>
            <a:off x="1500000" y="5600000"/>
            <a:ext cx="5100000" cy="46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Available merges</a:t>
            </a:r>
            <a:endParaRPr/>
          </a:p>
        </p:txBody>
      </p:sp>
      <p:sp>
        <p:nvSpPr>
          <p:cNvPr id="156" name="TextBox 156"/>
          <p:cNvSpPr txBox="1"/>
          <p:nvPr/>
        </p:nvSpPr>
        <p:spPr>
          <a:xfrm>
            <a:off x="11800000" y="5600000"/>
            <a:ext cx="5800000" cy="46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Monotonicity (rank</a:t>
            </a:r>
            <a:r>
              <a:rPr lang="en-US" sz="3498" b="0" i="0" u="none" strike="noStrike" cap="none" baseline="30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4</a:t>
            </a:r>
            <a:r>
              <a:rPr lang="en-US" sz="34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  <a:endParaRPr/>
          </a:p>
        </p:txBody>
      </p:sp>
      <p:sp>
        <p:nvSpPr>
          <p:cNvPr id="157" name="TextBox 157"/>
          <p:cNvSpPr txBox="1"/>
          <p:nvPr/>
        </p:nvSpPr>
        <p:spPr>
          <a:xfrm>
            <a:off x="5900000" y="8500000"/>
            <a:ext cx="6600000" cy="46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Clutter penalty (rank</a:t>
            </a:r>
            <a:r>
              <a:rPr lang="en-US" sz="3498" b="0" i="0" u="none" strike="noStrike" cap="none" baseline="30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3.5</a:t>
            </a:r>
            <a:r>
              <a:rPr lang="en-US" sz="34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6016804" y="2077139"/>
            <a:ext cx="6110851" cy="6075664"/>
          </a:xfrm>
          <a:custGeom>
            <a:avLst/>
            <a:gdLst/>
            <a:ahLst/>
            <a:cxnLst/>
            <a:rect l="l" t="t" r="r" b="b"/>
            <a:pathLst>
              <a:path w="6110851" h="6075664" extrusionOk="0">
                <a:moveTo>
                  <a:pt x="0" y="0"/>
                </a:moveTo>
                <a:lnTo>
                  <a:pt x="6110851" y="0"/>
                </a:lnTo>
                <a:lnTo>
                  <a:pt x="6110851" y="6075664"/>
                </a:lnTo>
                <a:lnTo>
                  <a:pt x="0" y="6075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6" name="Google Shape;166;p25"/>
          <p:cNvSpPr txBox="1"/>
          <p:nvPr/>
        </p:nvSpPr>
        <p:spPr>
          <a:xfrm>
            <a:off x="13066757" y="7395425"/>
            <a:ext cx="4568457" cy="1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Tiles are monotonically increasing, mixed patterns are penalized</a:t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11900000" y="250000"/>
            <a:ext cx="5900000" cy="82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No corner bonus: monotonicity alone keeps the big tiles in a corner</a:t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360754" y="3698933"/>
            <a:ext cx="4066064" cy="1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More empty space = more room to maneuver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6616328" y="9095117"/>
            <a:ext cx="6204900" cy="82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8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Clutter penalty: many small tiles spread around the board, each costs rank</a:t>
            </a:r>
            <a:r>
              <a:rPr lang="en-US" sz="3198" b="0" i="0" u="none" strike="noStrike" cap="none" baseline="30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3.5</a:t>
            </a:r>
            <a:endParaRPr/>
          </a:p>
        </p:txBody>
      </p:sp>
      <p:cxnSp>
        <p:nvCxnSpPr>
          <p:cNvPr id="170" name="Google Shape;170;p25"/>
          <p:cNvCxnSpPr/>
          <p:nvPr/>
        </p:nvCxnSpPr>
        <p:spPr>
          <a:xfrm>
            <a:off x="3787003" y="4665042"/>
            <a:ext cx="1423170" cy="899857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1" name="Google Shape;171;p25"/>
          <p:cNvCxnSpPr/>
          <p:nvPr/>
        </p:nvCxnSpPr>
        <p:spPr>
          <a:xfrm rot="10800000">
            <a:off x="12787123" y="5562924"/>
            <a:ext cx="1838836" cy="1585009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2" name="Google Shape;172;p25"/>
          <p:cNvCxnSpPr/>
          <p:nvPr/>
        </p:nvCxnSpPr>
        <p:spPr>
          <a:xfrm flipH="1">
            <a:off x="12141724" y="1000387"/>
            <a:ext cx="679504" cy="744308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3" name="Google Shape;173;p25"/>
          <p:cNvCxnSpPr/>
          <p:nvPr/>
        </p:nvCxnSpPr>
        <p:spPr>
          <a:xfrm rot="10800000" flipH="1">
            <a:off x="10669979" y="8466624"/>
            <a:ext cx="315350" cy="374557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4" name="Google Shape;174;p25"/>
          <p:cNvCxnSpPr/>
          <p:nvPr/>
        </p:nvCxnSpPr>
        <p:spPr>
          <a:xfrm rot="10800000">
            <a:off x="10008622" y="8477059"/>
            <a:ext cx="268220" cy="40963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26328" y="4153820"/>
            <a:ext cx="8168371" cy="206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05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75629" y="3673473"/>
            <a:ext cx="8168371" cy="27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99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TD N-Tuple - learning to play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N-tuple network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An n-tuple is a fixed set of board cells; its table has 16^n entries, indexed by packing the 4-bit ranks of those cells together - a few shifts on the bitboard</a:t>
            </a:r>
            <a:endParaRPr sz="31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V(board) is a plain sum of lookups: 8 patterns of 5 cells, and all 8 symmetries of a pattern share one table, so every board trains 64 weights at once</a:t>
            </a:r>
            <a:endParaRPr sz="31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8 x 16^5 = 8.4M weights, 32 MB as float - evaluates in microseconds, trains on a CPU, cannot diverge like a neural network</a:t>
            </a:r>
            <a:endParaRPr sz="31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The agent plays greedily one move deep: the legal move with the highest reward + V(</a:t>
            </a:r>
            <a:r>
              <a:rPr lang="en-US" sz="3100" b="0" i="0" u="none" strike="noStrike" cap="none" dirty="0" err="1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afterstate</a:t>
            </a:r>
            <a:r>
              <a:rPr lang="en-US" sz="31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)</a:t>
            </a:r>
            <a:endParaRPr sz="31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TD + </a:t>
            </a:r>
            <a:r>
              <a:rPr lang="en-US" sz="3100" b="0" i="0" u="none" strike="noStrike" cap="none" dirty="0" err="1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Expectimax</a:t>
            </a:r>
            <a:r>
              <a:rPr lang="en-US" sz="31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: the same V replaces the hand-written heuristic at the leaves of the search</a:t>
            </a:r>
            <a:endParaRPr sz="3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Training by self-play</a:t>
            </a: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23864" y="2565016"/>
            <a:ext cx="16243200" cy="6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TD(0) on afterstates - the board after sliding, before the random tile appears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V(s′) ← V(s′) + α [ r + V(s′ next) − V(s′) ], α = 0.1, the correction split evenly over the 64 weights the board touches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Afterstates remove the spawn randomness from the target, which is why this converges much faster than learning the value of states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Greedy the whole time - the random spawns give enough exploration, no epsilon needed</a:t>
            </a:r>
            <a:endParaRPr sz="310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733664" marR="0" lvl="1" indent="-347909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Char char="•"/>
            </a:pPr>
            <a:r>
              <a:rPr lang="en-US" sz="3100" b="0" i="0" u="none" strike="noStrike" cap="non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Console trainer prints statistics and writes a checkpoint every K games, so a run can be stopped and resumed at any time</a:t>
            </a:r>
            <a:endParaRPr sz="3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34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654" y="956475"/>
            <a:ext cx="162432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Results</a:t>
            </a:r>
            <a:endParaRPr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044000" y="2350000"/>
          <a:ext cx="12200000" cy="3840000"/>
        </p:xfrm>
        <a:graphic>
          <a:graphicData uri="http://schemas.openxmlformats.org/drawingml/2006/table">
            <a:tbl>
              <a:tblPr firstRow="1"/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Games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Mean score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2048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4096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8192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20,000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27,446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50%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10%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-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60,000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58,733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92%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63%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3%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100,000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67,354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95%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77%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7%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160,000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86,084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96%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83%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33%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200,000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93,131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96%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85%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i="0" u="none" strike="noStrike" cap="none">
                          <a:solidFill>
                            <a:srgbClr val="FFFFFF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43%</a:t>
                      </a:r>
                      <a:endParaRPr sz="2800"/>
                    </a:p>
                  </a:txBody>
                  <a:tcPr marL="91425" marR="91425" marT="45700" marB="457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22400" y="6600000"/>
            <a:ext cx="162432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Self-play training with learning on: mean score and share of games reaching each tile, 200,000 games in 47 minutes on one CPU core</a:t>
            </a:r>
            <a:endParaRPr sz="28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Measured afterwards on 300 games with learning off: mean 91,304, best game 173,236, 2048 in 95%, 4096 in 83%, 8192 in 44%</a:t>
            </a:r>
            <a:endParaRPr sz="28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marR="0" lvl="0" indent="0" algn="l" rtl="0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Szubert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&amp;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Jaśkowski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 (2014), who introduced the method, report mean scores around 100,000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934</Words>
  <Application>Microsoft Office PowerPoint</Application>
  <PresentationFormat>Custom</PresentationFormat>
  <Paragraphs>126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Bricolage Grotesque</vt:lpstr>
      <vt:lpstr>Questrial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Emir Baručija</cp:lastModifiedBy>
  <cp:revision>1</cp:revision>
  <dcterms:modified xsi:type="dcterms:W3CDTF">2026-09-18T18:59:42Z</dcterms:modified>
</cp:coreProperties>
</file>