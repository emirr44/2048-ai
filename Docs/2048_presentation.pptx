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71" r:id="rId15"/>
    <p:sldId id="272" r:id="rId16"/>
    <p:sldId id="273" r:id="rId17"/>
    <p:sldId id="274" r:id="rId18"/>
  </p:sldIdLst>
  <p:sldSz cx="18288000" cy="10287000"/>
  <p:notesSz cx="6858000" cy="9144000"/>
  <p:embeddedFontLst>
    <p:embeddedFont>
      <p:font typeface="Bricolage Grotesque" panose="020B0604020202020204" charset="0"/>
      <p:regular r:id="rId20"/>
      <p:bold r:id="rId21"/>
    </p:embeddedFont>
    <p:embeddedFont>
      <p:font typeface="Questrial" pitchFamily="2" charset="0"/>
      <p:regular r:id="rId2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2" d="100"/>
          <a:sy n="52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font" Target="fonts/font2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1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6" name="Google Shape;9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" name="Google Shape;109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5" name="Google Shape;115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1" name="Google Shape;121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7" name="Google Shape;127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" name="Google Shape;133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9" name="Google Shape;139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4" name="Google Shape;144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3" name="Google Shape;163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6F34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4" name="Google Shape;84;p13"/>
          <p:cNvGrpSpPr/>
          <p:nvPr/>
        </p:nvGrpSpPr>
        <p:grpSpPr>
          <a:xfrm>
            <a:off x="1356674" y="4923861"/>
            <a:ext cx="6886575" cy="2959696"/>
            <a:chOff x="0" y="-47625"/>
            <a:chExt cx="9182100" cy="3946261"/>
          </a:xfrm>
        </p:grpSpPr>
        <p:sp>
          <p:nvSpPr>
            <p:cNvPr id="85" name="Google Shape;85;p13"/>
            <p:cNvSpPr txBox="1"/>
            <p:nvPr/>
          </p:nvSpPr>
          <p:spPr>
            <a:xfrm>
              <a:off x="0" y="2530493"/>
              <a:ext cx="9182100" cy="136814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491" b="0" i="0" u="none" strike="noStrike" cap="none">
                  <a:solidFill>
                    <a:srgbClr val="FFFFFF"/>
                  </a:solidFill>
                  <a:latin typeface="Bricolage Grotesque"/>
                  <a:ea typeface="Bricolage Grotesque"/>
                  <a:cs typeface="Bricolage Grotesque"/>
                  <a:sym typeface="Bricolage Grotesque"/>
                </a:rPr>
                <a:t>2048 AI Agent</a:t>
              </a:r>
              <a:endParaRPr/>
            </a:p>
          </p:txBody>
        </p:sp>
        <p:sp>
          <p:nvSpPr>
            <p:cNvPr id="86" name="Google Shape;86;p13"/>
            <p:cNvSpPr txBox="1"/>
            <p:nvPr/>
          </p:nvSpPr>
          <p:spPr>
            <a:xfrm>
              <a:off x="0" y="-47625"/>
              <a:ext cx="9182100" cy="49381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7105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87" name="Google Shape;87;p13"/>
          <p:cNvSpPr txBox="1"/>
          <p:nvPr/>
        </p:nvSpPr>
        <p:spPr>
          <a:xfrm>
            <a:off x="556399" y="8617655"/>
            <a:ext cx="16243112" cy="8871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498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98" b="0" i="0" u="none" strike="noStrike" cap="none">
                <a:solidFill>
                  <a:srgbClr val="FFFFFF"/>
                </a:solidFill>
                <a:latin typeface="Questrial"/>
                <a:ea typeface="Questrial"/>
                <a:cs typeface="Questrial"/>
                <a:sym typeface="Questrial"/>
              </a:rPr>
              <a:t>Emir Baručija,</a:t>
            </a:r>
            <a:endParaRPr/>
          </a:p>
          <a:p>
            <a:pPr marL="0" marR="0" lvl="0" indent="0" algn="l" rtl="0">
              <a:lnSpc>
                <a:spcPct val="12498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98" b="0" i="0" u="none" strike="noStrike" cap="none">
                <a:solidFill>
                  <a:srgbClr val="FFFFFF"/>
                </a:solidFill>
                <a:latin typeface="Questrial"/>
                <a:ea typeface="Questrial"/>
                <a:cs typeface="Questrial"/>
                <a:sym typeface="Questrial"/>
              </a:rPr>
              <a:t>Faculty of Electrical Engineering, Sarajevo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6F34"/>
        </a:solidFill>
        <a:effectLst/>
      </p:bgPr>
    </p:bg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4"/>
          <p:cNvSpPr txBox="1"/>
          <p:nvPr/>
        </p:nvSpPr>
        <p:spPr>
          <a:xfrm>
            <a:off x="10526328" y="4153820"/>
            <a:ext cx="8168371" cy="2066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0" b="1" i="0" u="none" strike="noStrike" cap="none">
                <a:solidFill>
                  <a:srgbClr val="FFFFFF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01</a:t>
            </a:r>
            <a:endParaRPr/>
          </a:p>
        </p:txBody>
      </p:sp>
      <p:sp>
        <p:nvSpPr>
          <p:cNvPr id="93" name="Google Shape;93;p14"/>
          <p:cNvSpPr txBox="1"/>
          <p:nvPr/>
        </p:nvSpPr>
        <p:spPr>
          <a:xfrm>
            <a:off x="1382328" y="4545931"/>
            <a:ext cx="8168371" cy="13684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999" b="1" i="0" u="none" strike="noStrike" cap="none">
                <a:solidFill>
                  <a:srgbClr val="FFFFFF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What is 2048?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6F34"/>
        </a:solidFill>
        <a:effectLst/>
      </p:bgPr>
    </p:bg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5"/>
          <p:cNvSpPr txBox="1"/>
          <p:nvPr/>
        </p:nvSpPr>
        <p:spPr>
          <a:xfrm>
            <a:off x="1615600" y="1387100"/>
            <a:ext cx="77304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500" b="1" i="0" u="none" strike="noStrike" cap="none">
                <a:solidFill>
                  <a:srgbClr val="FFFFFF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What is 2048?</a:t>
            </a:r>
            <a:endParaRPr/>
          </a:p>
        </p:txBody>
      </p:sp>
      <p:sp>
        <p:nvSpPr>
          <p:cNvPr id="99" name="Google Shape;99;p15"/>
          <p:cNvSpPr txBox="1"/>
          <p:nvPr/>
        </p:nvSpPr>
        <p:spPr>
          <a:xfrm>
            <a:off x="843481" y="2876021"/>
            <a:ext cx="16243112" cy="534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235944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733664" marR="0" lvl="1" indent="-366832" algn="l" rtl="0">
              <a:lnSpc>
                <a:spcPct val="124985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398"/>
              <a:buFont typeface="Arial"/>
              <a:buChar char="•"/>
            </a:pPr>
            <a:r>
              <a:rPr lang="en-US" sz="3398" b="0" i="0" u="none" strike="noStrike" cap="none">
                <a:solidFill>
                  <a:srgbClr val="FFFFFF"/>
                </a:solidFill>
                <a:latin typeface="Questrial"/>
                <a:ea typeface="Questrial"/>
                <a:cs typeface="Questrial"/>
                <a:sym typeface="Questrial"/>
              </a:rPr>
              <a:t>2048 is a single player sliding block puzzle game in which the objective of the game is to slide numbered tiles on a grid to combine them in order to generate a tile with the value of 2048, or even higher</a:t>
            </a:r>
            <a:endParaRPr/>
          </a:p>
          <a:p>
            <a:pPr marL="0" marR="0" lvl="0" indent="0" algn="l" rtl="0">
              <a:lnSpc>
                <a:spcPct val="124985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3398" b="0" i="0" u="none" strike="noStrike" cap="none">
              <a:solidFill>
                <a:srgbClr val="FFFFFF"/>
              </a:solidFill>
              <a:latin typeface="Questrial"/>
              <a:ea typeface="Questrial"/>
              <a:cs typeface="Questrial"/>
              <a:sym typeface="Questrial"/>
            </a:endParaRPr>
          </a:p>
          <a:p>
            <a:pPr marL="733664" marR="0" lvl="1" indent="-366832" algn="l" rtl="0">
              <a:lnSpc>
                <a:spcPct val="124985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398"/>
              <a:buFont typeface="Arial"/>
              <a:buChar char="•"/>
            </a:pPr>
            <a:r>
              <a:rPr lang="en-US" sz="3398" b="0" i="0" u="none" strike="noStrike" cap="none">
                <a:solidFill>
                  <a:srgbClr val="FFFFFF"/>
                </a:solidFill>
                <a:latin typeface="Questrial"/>
                <a:ea typeface="Questrial"/>
                <a:cs typeface="Questrial"/>
                <a:sym typeface="Questrial"/>
              </a:rPr>
              <a:t>the game is played on a 4x4 grid with numbered tiles that slide in one of four directions where the tiles slide as far as possible in the chosen direction</a:t>
            </a:r>
            <a:endParaRPr/>
          </a:p>
          <a:p>
            <a:pPr marL="0" marR="0" lvl="0" indent="0" algn="l" rtl="0">
              <a:lnSpc>
                <a:spcPct val="124985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3398" b="0" i="0" u="none" strike="noStrike" cap="none">
              <a:solidFill>
                <a:srgbClr val="FFFFFF"/>
              </a:solidFill>
              <a:latin typeface="Questrial"/>
              <a:ea typeface="Questrial"/>
              <a:cs typeface="Questrial"/>
              <a:sym typeface="Questrial"/>
            </a:endParaRPr>
          </a:p>
          <a:p>
            <a:pPr marL="733664" marR="0" lvl="1" indent="-366832" algn="l" rtl="0">
              <a:lnSpc>
                <a:spcPct val="124985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398"/>
              <a:buFont typeface="Arial"/>
              <a:buChar char="•"/>
            </a:pPr>
            <a:r>
              <a:rPr lang="en-US" sz="3398" b="0" i="0" u="none" strike="noStrike" cap="none">
                <a:solidFill>
                  <a:srgbClr val="FFFFFF"/>
                </a:solidFill>
                <a:latin typeface="Questrial"/>
                <a:ea typeface="Questrial"/>
                <a:cs typeface="Questrial"/>
                <a:sym typeface="Questrial"/>
              </a:rPr>
              <a:t>tiles slide until they are stopped by another tile or the edge, and if two of the same numbered tiles collide, they merge into a tile with double the value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6F34"/>
        </a:solidFill>
        <a:effectLst/>
      </p:bgPr>
    </p:bg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6"/>
          <p:cNvSpPr/>
          <p:nvPr/>
        </p:nvSpPr>
        <p:spPr>
          <a:xfrm>
            <a:off x="2099255" y="1591582"/>
            <a:ext cx="5811968" cy="5811968"/>
          </a:xfrm>
          <a:custGeom>
            <a:avLst/>
            <a:gdLst/>
            <a:ahLst/>
            <a:cxnLst/>
            <a:rect l="l" t="t" r="r" b="b"/>
            <a:pathLst>
              <a:path w="5811968" h="5811968" extrusionOk="0">
                <a:moveTo>
                  <a:pt x="0" y="0"/>
                </a:moveTo>
                <a:lnTo>
                  <a:pt x="5811968" y="0"/>
                </a:lnTo>
                <a:lnTo>
                  <a:pt x="5811968" y="5811968"/>
                </a:lnTo>
                <a:lnTo>
                  <a:pt x="0" y="581196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05" name="Google Shape;105;p16"/>
          <p:cNvSpPr txBox="1"/>
          <p:nvPr/>
        </p:nvSpPr>
        <p:spPr>
          <a:xfrm>
            <a:off x="2099255" y="8012631"/>
            <a:ext cx="5811968" cy="457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98" b="0" i="0" u="none" strike="noStrike" cap="none">
                <a:solidFill>
                  <a:srgbClr val="FFFFFF"/>
                </a:solidFill>
                <a:latin typeface="Questrial"/>
                <a:ea typeface="Questrial"/>
                <a:cs typeface="Questrial"/>
                <a:sym typeface="Questrial"/>
              </a:rPr>
              <a:t>example state in 2048 game</a:t>
            </a:r>
            <a:endParaRPr/>
          </a:p>
        </p:txBody>
      </p:sp>
      <p:sp>
        <p:nvSpPr>
          <p:cNvPr id="106" name="Google Shape;106;p16"/>
          <p:cNvSpPr txBox="1"/>
          <p:nvPr/>
        </p:nvSpPr>
        <p:spPr>
          <a:xfrm>
            <a:off x="9144000" y="1805154"/>
            <a:ext cx="7917600" cy="771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733664" marR="0" lvl="1" indent="-366832" algn="l" rtl="0">
              <a:lnSpc>
                <a:spcPct val="124985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398"/>
              <a:buFont typeface="Arial"/>
              <a:buChar char="•"/>
            </a:pPr>
            <a:r>
              <a:rPr lang="en-US" sz="3398" b="0" i="0" u="none" strike="noStrike" cap="none">
                <a:solidFill>
                  <a:srgbClr val="FFFFFF"/>
                </a:solidFill>
                <a:latin typeface="Questrial"/>
                <a:ea typeface="Questrial"/>
                <a:cs typeface="Questrial"/>
                <a:sym typeface="Questrial"/>
              </a:rPr>
              <a:t>the theoretical maximum tile is 2^17, giving 18 possible values per cell, meaning 2048 has ≈ 2.8 × 1020 possible states</a:t>
            </a:r>
            <a:endParaRPr/>
          </a:p>
          <a:p>
            <a:pPr marL="0" marR="0" lvl="0" indent="0" algn="l" rtl="0">
              <a:lnSpc>
                <a:spcPct val="124985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3398" b="0" i="0" u="none" strike="noStrike" cap="none">
              <a:solidFill>
                <a:srgbClr val="FFFFFF"/>
              </a:solidFill>
              <a:latin typeface="Questrial"/>
              <a:ea typeface="Questrial"/>
              <a:cs typeface="Questrial"/>
              <a:sym typeface="Questrial"/>
            </a:endParaRPr>
          </a:p>
          <a:p>
            <a:pPr marL="733664" marR="0" lvl="1" indent="-366832" algn="l" rtl="0">
              <a:lnSpc>
                <a:spcPct val="124985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398"/>
              <a:buFont typeface="Arial"/>
              <a:buChar char="•"/>
            </a:pPr>
            <a:r>
              <a:rPr lang="en-US" sz="3398" b="0" i="0" u="none" strike="noStrike" cap="none">
                <a:solidFill>
                  <a:srgbClr val="FFFFFF"/>
                </a:solidFill>
                <a:latin typeface="Questrial"/>
                <a:ea typeface="Questrial"/>
                <a:cs typeface="Questrial"/>
                <a:sym typeface="Questrial"/>
              </a:rPr>
              <a:t>however, not all states are reachable</a:t>
            </a:r>
            <a:endParaRPr/>
          </a:p>
          <a:p>
            <a:pPr marL="0" marR="0" lvl="0" indent="0" algn="l" rtl="0">
              <a:lnSpc>
                <a:spcPct val="124985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3398" b="0" i="0" u="none" strike="noStrike" cap="none">
              <a:solidFill>
                <a:srgbClr val="FFFFFF"/>
              </a:solidFill>
              <a:latin typeface="Questrial"/>
              <a:ea typeface="Questrial"/>
              <a:cs typeface="Questrial"/>
              <a:sym typeface="Questrial"/>
            </a:endParaRPr>
          </a:p>
          <a:p>
            <a:pPr marL="733664" marR="0" lvl="1" indent="-366832" algn="l" rtl="0">
              <a:lnSpc>
                <a:spcPct val="124985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398"/>
              <a:buFont typeface="Arial"/>
              <a:buChar char="•"/>
            </a:pPr>
            <a:r>
              <a:rPr lang="en-US" sz="3398" b="0" i="0" u="none" strike="noStrike" cap="none">
                <a:solidFill>
                  <a:srgbClr val="FFFFFF"/>
                </a:solidFill>
                <a:latin typeface="Questrial"/>
                <a:ea typeface="Questrial"/>
                <a:cs typeface="Questrial"/>
                <a:sym typeface="Questrial"/>
              </a:rPr>
              <a:t>researchers have estimated the number of actually reachable states to be on the order of ~10^15 to 10^16, though an exact count is computationally difficult to determine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6F34"/>
        </a:solidFill>
        <a:effectLst/>
      </p:bgPr>
    </p:bg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7"/>
          <p:cNvSpPr txBox="1"/>
          <p:nvPr/>
        </p:nvSpPr>
        <p:spPr>
          <a:xfrm>
            <a:off x="11315803" y="4225590"/>
            <a:ext cx="8168371" cy="2066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0" b="1" i="0" u="none" strike="noStrike" cap="none">
                <a:solidFill>
                  <a:srgbClr val="FFFFFF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02</a:t>
            </a:r>
            <a:endParaRPr/>
          </a:p>
        </p:txBody>
      </p:sp>
      <p:sp>
        <p:nvSpPr>
          <p:cNvPr id="112" name="Google Shape;112;p17"/>
          <p:cNvSpPr txBox="1"/>
          <p:nvPr/>
        </p:nvSpPr>
        <p:spPr>
          <a:xfrm>
            <a:off x="-1004795" y="4617701"/>
            <a:ext cx="10656412" cy="13684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999" b="1" i="0" u="none" strike="noStrike" cap="none">
                <a:solidFill>
                  <a:srgbClr val="FFFFFF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AI Agents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6F34"/>
        </a:solidFill>
        <a:effectLst/>
      </p:bgPr>
    </p:bg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8"/>
          <p:cNvSpPr txBox="1"/>
          <p:nvPr/>
        </p:nvSpPr>
        <p:spPr>
          <a:xfrm>
            <a:off x="768109" y="1923000"/>
            <a:ext cx="16243200" cy="644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498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00" b="0" i="0" u="none" strike="noStrike" cap="none">
                <a:solidFill>
                  <a:srgbClr val="FFFFFF"/>
                </a:solidFill>
                <a:latin typeface="Questrial"/>
                <a:ea typeface="Questrial"/>
                <a:cs typeface="Questrial"/>
                <a:sym typeface="Questrial"/>
              </a:rPr>
              <a:t>I employed 5 agents to play 2048 game:</a:t>
            </a:r>
            <a:endParaRPr sz="3100"/>
          </a:p>
          <a:p>
            <a:pPr marL="0" marR="0" lvl="0" indent="0" algn="l" rtl="0">
              <a:lnSpc>
                <a:spcPct val="124985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  <a:p>
            <a:pPr marL="733664" marR="0" lvl="1" indent="-347909" algn="l" rtl="0">
              <a:lnSpc>
                <a:spcPct val="124985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100"/>
              <a:buFont typeface="Arial"/>
              <a:buChar char="•"/>
            </a:pPr>
            <a:r>
              <a:rPr lang="en-US" sz="3100" b="0" i="0" u="none" strike="noStrike" cap="none">
                <a:solidFill>
                  <a:srgbClr val="FFFFFF"/>
                </a:solidFill>
                <a:latin typeface="Questrial"/>
                <a:ea typeface="Questrial"/>
                <a:cs typeface="Questrial"/>
                <a:sym typeface="Questrial"/>
              </a:rPr>
              <a:t>Random - picks a random legal move, without lookahead or evaluation. Baseline for the others</a:t>
            </a:r>
            <a:endParaRPr sz="3100"/>
          </a:p>
          <a:p>
            <a:pPr marL="0" marR="0" lvl="0" indent="0" algn="l" rtl="0">
              <a:lnSpc>
                <a:spcPct val="124985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/>
          </a:p>
          <a:p>
            <a:pPr marL="733664" marR="0" lvl="1" indent="-347909" algn="l" rtl="0">
              <a:lnSpc>
                <a:spcPct val="124985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100"/>
              <a:buFont typeface="Arial"/>
              <a:buChar char="•"/>
            </a:pPr>
            <a:r>
              <a:rPr lang="en-US" sz="3100" b="0" i="0" u="none" strike="noStrike" cap="none">
                <a:solidFill>
                  <a:srgbClr val="FFFFFF"/>
                </a:solidFill>
                <a:latin typeface="Questrial"/>
                <a:ea typeface="Questrial"/>
                <a:cs typeface="Questrial"/>
                <a:sym typeface="Questrial"/>
              </a:rPr>
              <a:t>Priority - greedy, looks one move ahead with the heuristic and a preferred move order as tiebreaker. Plays like a human without a plan</a:t>
            </a:r>
            <a:endParaRPr sz="3100"/>
          </a:p>
          <a:p>
            <a:pPr marL="0" marR="0" lvl="0" indent="0" algn="l" rtl="0">
              <a:lnSpc>
                <a:spcPct val="124985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/>
          </a:p>
          <a:p>
            <a:pPr marL="733664" marR="0" lvl="1" indent="-347909" algn="l" rtl="0">
              <a:lnSpc>
                <a:spcPct val="124985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100"/>
              <a:buFont typeface="Arial"/>
              <a:buChar char="•"/>
            </a:pPr>
            <a:r>
              <a:rPr lang="en-US" sz="3100" b="0" i="0" u="none" strike="noStrike" cap="none">
                <a:solidFill>
                  <a:srgbClr val="FFFFFF"/>
                </a:solidFill>
                <a:latin typeface="Questrial"/>
                <a:ea typeface="Questrial"/>
                <a:cs typeface="Questrial"/>
                <a:sym typeface="Questrial"/>
              </a:rPr>
              <a:t>Expectimax - searches the game tree and accounts for randomness of tile spawns, hand-written heuristic at the leaves</a:t>
            </a:r>
            <a:endParaRPr sz="3100"/>
          </a:p>
          <a:p>
            <a:pPr marL="0" marR="0" lvl="0" indent="0" algn="l" rtl="0">
              <a:lnSpc>
                <a:spcPct val="124985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/>
          </a:p>
          <a:p>
            <a:pPr marL="733664" marR="0" lvl="1" indent="-347909" algn="l" rtl="0">
              <a:lnSpc>
                <a:spcPct val="124985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100"/>
              <a:buFont typeface="Arial"/>
              <a:buChar char="•"/>
            </a:pPr>
            <a:r>
              <a:rPr lang="en-US" sz="3100" b="0" i="0" u="none" strike="noStrike" cap="none">
                <a:solidFill>
                  <a:srgbClr val="FFFFFF"/>
                </a:solidFill>
                <a:latin typeface="Questrial"/>
                <a:ea typeface="Questrial"/>
                <a:cs typeface="Questrial"/>
                <a:sym typeface="Questrial"/>
              </a:rPr>
              <a:t>TD N-Tuple - learned value function, trained by self-play. Plays greedily one move deep, no search</a:t>
            </a:r>
            <a:endParaRPr sz="3100"/>
          </a:p>
          <a:p>
            <a:pPr marL="0" marR="0" lvl="0" indent="0" algn="l" rtl="0">
              <a:lnSpc>
                <a:spcPct val="124985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/>
          </a:p>
          <a:p>
            <a:pPr marL="733664" marR="0" lvl="1" indent="-347909" algn="l" rtl="0">
              <a:lnSpc>
                <a:spcPct val="124985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100"/>
              <a:buFont typeface="Arial"/>
              <a:buChar char="•"/>
            </a:pPr>
            <a:r>
              <a:rPr lang="en-US" sz="3100" b="0" i="0" u="none" strike="noStrike" cap="none">
                <a:solidFill>
                  <a:srgbClr val="FFFFFF"/>
                </a:solidFill>
                <a:latin typeface="Questrial"/>
                <a:ea typeface="Questrial"/>
                <a:cs typeface="Questrial"/>
                <a:sym typeface="Questrial"/>
              </a:rPr>
              <a:t>TD + Expectimax - the same learned values used to evaluate the leaves of the expectimax search</a:t>
            </a:r>
            <a:endParaRPr sz="3100"/>
          </a:p>
        </p:txBody>
      </p:sp>
      <p:sp>
        <p:nvSpPr>
          <p:cNvPr id="118" name="Google Shape;118;p18"/>
          <p:cNvSpPr txBox="1"/>
          <p:nvPr/>
        </p:nvSpPr>
        <p:spPr>
          <a:xfrm>
            <a:off x="604654" y="956475"/>
            <a:ext cx="9318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500" b="1" i="0" u="none" strike="noStrike" cap="none">
                <a:solidFill>
                  <a:srgbClr val="FFFFFF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Who can play 2048?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6F34"/>
        </a:solidFill>
        <a:effectLst/>
      </p:bgPr>
    </p:bg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9"/>
          <p:cNvSpPr txBox="1"/>
          <p:nvPr/>
        </p:nvSpPr>
        <p:spPr>
          <a:xfrm>
            <a:off x="10526328" y="4153820"/>
            <a:ext cx="8168371" cy="2066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0" b="1" i="0" u="none" strike="noStrike" cap="none">
                <a:solidFill>
                  <a:srgbClr val="FFFFFF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03</a:t>
            </a:r>
            <a:endParaRPr/>
          </a:p>
        </p:txBody>
      </p:sp>
      <p:sp>
        <p:nvSpPr>
          <p:cNvPr id="124" name="Google Shape;124;p19"/>
          <p:cNvSpPr txBox="1"/>
          <p:nvPr/>
        </p:nvSpPr>
        <p:spPr>
          <a:xfrm>
            <a:off x="975629" y="3836318"/>
            <a:ext cx="8168371" cy="27876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999" b="1" i="0" u="none" strike="noStrike" cap="none">
                <a:solidFill>
                  <a:srgbClr val="FFFFFF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Expectimax - or how to win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6F34"/>
        </a:solidFill>
        <a:effectLst/>
      </p:bgPr>
    </p:bg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0"/>
          <p:cNvSpPr txBox="1"/>
          <p:nvPr/>
        </p:nvSpPr>
        <p:spPr>
          <a:xfrm>
            <a:off x="1028700" y="956475"/>
            <a:ext cx="7902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500" b="1" i="0" u="none" strike="noStrike" cap="none">
                <a:solidFill>
                  <a:srgbClr val="FFFFFF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Why expectimax?</a:t>
            </a:r>
            <a:endParaRPr/>
          </a:p>
        </p:txBody>
      </p:sp>
      <p:sp>
        <p:nvSpPr>
          <p:cNvPr id="130" name="Google Shape;130;p20"/>
          <p:cNvSpPr txBox="1"/>
          <p:nvPr/>
        </p:nvSpPr>
        <p:spPr>
          <a:xfrm>
            <a:off x="723864" y="2565016"/>
            <a:ext cx="16243200" cy="763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733664" marR="0" lvl="1" indent="-347909" algn="l" rtl="0">
              <a:lnSpc>
                <a:spcPct val="124985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100"/>
              <a:buFont typeface="Arial"/>
              <a:buChar char="•"/>
            </a:pPr>
            <a:r>
              <a:rPr lang="en-US" sz="3100" b="0" i="0" u="none" strike="noStrike" cap="none">
                <a:solidFill>
                  <a:srgbClr val="FFFFFF"/>
                </a:solidFill>
                <a:latin typeface="Questrial"/>
                <a:ea typeface="Questrial"/>
                <a:cs typeface="Questrial"/>
                <a:sym typeface="Questrial"/>
              </a:rPr>
              <a:t>2048 is not a purely adversarial game, tiles spawn randomly, not strategically</a:t>
            </a:r>
            <a:endParaRPr sz="3100"/>
          </a:p>
          <a:p>
            <a:pPr marL="0" marR="0" lvl="0" indent="0" algn="l" rtl="0">
              <a:lnSpc>
                <a:spcPct val="124985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3100" b="0" i="0" u="none" strike="noStrike" cap="none">
              <a:solidFill>
                <a:srgbClr val="FFFFFF"/>
              </a:solidFill>
              <a:latin typeface="Questrial"/>
              <a:ea typeface="Questrial"/>
              <a:cs typeface="Questrial"/>
              <a:sym typeface="Questrial"/>
            </a:endParaRPr>
          </a:p>
          <a:p>
            <a:pPr marL="733664" marR="0" lvl="1" indent="-347909" algn="l" rtl="0">
              <a:lnSpc>
                <a:spcPct val="124985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100"/>
              <a:buFont typeface="Arial"/>
              <a:buChar char="•"/>
            </a:pPr>
            <a:r>
              <a:rPr lang="en-US" sz="3100" b="0" i="0" u="none" strike="noStrike" cap="none">
                <a:solidFill>
                  <a:srgbClr val="FFFFFF"/>
                </a:solidFill>
                <a:latin typeface="Questrial"/>
                <a:ea typeface="Questrial"/>
                <a:cs typeface="Questrial"/>
                <a:sym typeface="Questrial"/>
              </a:rPr>
              <a:t>Minimax assumes a worst-case opponent, which is too pessimistic here</a:t>
            </a:r>
            <a:endParaRPr sz="3100"/>
          </a:p>
          <a:p>
            <a:pPr marL="0" marR="0" lvl="0" indent="0" algn="l" rtl="0">
              <a:lnSpc>
                <a:spcPct val="124985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3100" b="0" i="0" u="none" strike="noStrike" cap="none">
              <a:solidFill>
                <a:srgbClr val="FFFFFF"/>
              </a:solidFill>
              <a:latin typeface="Questrial"/>
              <a:ea typeface="Questrial"/>
              <a:cs typeface="Questrial"/>
              <a:sym typeface="Questrial"/>
            </a:endParaRPr>
          </a:p>
          <a:p>
            <a:pPr marL="733664" marR="0" lvl="1" indent="-347909" algn="l" rtl="0">
              <a:lnSpc>
                <a:spcPct val="124985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100"/>
              <a:buFont typeface="Arial"/>
              <a:buChar char="•"/>
            </a:pPr>
            <a:r>
              <a:rPr lang="en-US" sz="3100" b="0" i="0" u="none" strike="noStrike" cap="none">
                <a:solidFill>
                  <a:srgbClr val="FFFFFF"/>
                </a:solidFill>
                <a:latin typeface="Questrial"/>
                <a:ea typeface="Questrial"/>
                <a:cs typeface="Questrial"/>
                <a:sym typeface="Questrial"/>
              </a:rPr>
              <a:t>Expectimax handles randomness by computing probability-weighted averages instead</a:t>
            </a:r>
            <a:endParaRPr sz="3100"/>
          </a:p>
          <a:p>
            <a:pPr marL="0" marR="0" lvl="0" indent="0" algn="l" rtl="0">
              <a:lnSpc>
                <a:spcPct val="124985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3100" b="0" i="0" u="none" strike="noStrike" cap="none">
              <a:solidFill>
                <a:srgbClr val="FFFFFF"/>
              </a:solidFill>
              <a:latin typeface="Questrial"/>
              <a:ea typeface="Questrial"/>
              <a:cs typeface="Questrial"/>
              <a:sym typeface="Questrial"/>
            </a:endParaRPr>
          </a:p>
          <a:p>
            <a:pPr marL="733664" marR="0" lvl="1" indent="-347909" algn="l" rtl="0">
              <a:lnSpc>
                <a:spcPct val="124985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100"/>
              <a:buFont typeface="Arial"/>
              <a:buChar char="•"/>
            </a:pPr>
            <a:r>
              <a:rPr lang="en-US" sz="3100" b="0" i="0" u="none" strike="noStrike" cap="none">
                <a:solidFill>
                  <a:srgbClr val="FFFFFF"/>
                </a:solidFill>
                <a:latin typeface="Questrial"/>
                <a:ea typeface="Questrial"/>
                <a:cs typeface="Questrial"/>
                <a:sym typeface="Questrial"/>
              </a:rPr>
              <a:t>The game tree alternates between two node types:</a:t>
            </a:r>
            <a:endParaRPr sz="3100"/>
          </a:p>
          <a:p>
            <a:pPr marL="0" marR="0" lvl="0" indent="0" algn="l" rtl="0">
              <a:lnSpc>
                <a:spcPct val="124985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3100" b="0" i="0" u="none" strike="noStrike" cap="none">
              <a:solidFill>
                <a:srgbClr val="FFFFFF"/>
              </a:solidFill>
              <a:latin typeface="Questrial"/>
              <a:ea typeface="Questrial"/>
              <a:cs typeface="Questrial"/>
              <a:sym typeface="Questrial"/>
            </a:endParaRPr>
          </a:p>
          <a:p>
            <a:pPr marL="733664" marR="0" lvl="1" indent="-347909" algn="l" rtl="0">
              <a:lnSpc>
                <a:spcPct val="124985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100"/>
              <a:buFont typeface="Arial"/>
              <a:buChar char="•"/>
            </a:pPr>
            <a:r>
              <a:rPr lang="en-US" sz="3100" b="0" i="0" u="none" strike="noStrike" cap="none">
                <a:solidFill>
                  <a:srgbClr val="FFFFFF"/>
                </a:solidFill>
                <a:latin typeface="Questrial"/>
                <a:ea typeface="Questrial"/>
                <a:cs typeface="Questrial"/>
                <a:sym typeface="Questrial"/>
              </a:rPr>
              <a:t>        Max node (player's turn) </a:t>
            </a:r>
            <a:endParaRPr sz="3100"/>
          </a:p>
          <a:p>
            <a:pPr marL="733664" marR="0" lvl="1" indent="-347909" algn="l" rtl="0">
              <a:lnSpc>
                <a:spcPct val="124985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100"/>
              <a:buFont typeface="Arial"/>
              <a:buChar char="•"/>
            </a:pPr>
            <a:r>
              <a:rPr lang="en-US" sz="3100" b="0" i="0" u="none" strike="noStrike" cap="none">
                <a:solidFill>
                  <a:srgbClr val="FFFFFF"/>
                </a:solidFill>
                <a:latin typeface="Questrial"/>
                <a:ea typeface="Questrial"/>
                <a:cs typeface="Questrial"/>
                <a:sym typeface="Questrial"/>
              </a:rPr>
              <a:t>        Chance node (tile spawn) </a:t>
            </a:r>
            <a:endParaRPr sz="3100"/>
          </a:p>
          <a:p>
            <a:pPr marL="0" marR="0" lvl="0" indent="0" algn="l" rtl="0">
              <a:lnSpc>
                <a:spcPct val="124985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3100" b="0" i="0" u="none" strike="noStrike" cap="none">
              <a:solidFill>
                <a:srgbClr val="FFFFFF"/>
              </a:solidFill>
              <a:latin typeface="Questrial"/>
              <a:ea typeface="Questrial"/>
              <a:cs typeface="Questrial"/>
              <a:sym typeface="Questrial"/>
            </a:endParaRPr>
          </a:p>
          <a:p>
            <a:pPr marL="733664" marR="0" lvl="1" indent="-347909" algn="l" rtl="0">
              <a:lnSpc>
                <a:spcPct val="124985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100"/>
              <a:buFont typeface="Arial"/>
              <a:buChar char="•"/>
            </a:pPr>
            <a:r>
              <a:rPr lang="en-US" sz="3100" b="0" i="0" u="none" strike="noStrike" cap="none">
                <a:solidFill>
                  <a:srgbClr val="FFFFFF"/>
                </a:solidFill>
                <a:latin typeface="Questrial"/>
                <a:ea typeface="Questrial"/>
                <a:cs typeface="Questrial"/>
                <a:sym typeface="Questrial"/>
              </a:rPr>
              <a:t>At the bottom of the tree, the heuristic function evaluates the board</a:t>
            </a:r>
            <a:endParaRPr sz="3100"/>
          </a:p>
          <a:p>
            <a:pPr marL="0" marR="0" lvl="0" indent="0" algn="l" rtl="0">
              <a:lnSpc>
                <a:spcPct val="124985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3100" b="0" i="0" u="none" strike="noStrike" cap="none">
              <a:solidFill>
                <a:srgbClr val="FFFFFF"/>
              </a:solidFill>
              <a:latin typeface="Questrial"/>
              <a:ea typeface="Questrial"/>
              <a:cs typeface="Questrial"/>
              <a:sym typeface="Quest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6F34"/>
        </a:solidFill>
        <a:effectLst/>
      </p:bgPr>
    </p:bg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1"/>
          <p:cNvSpPr txBox="1"/>
          <p:nvPr/>
        </p:nvSpPr>
        <p:spPr>
          <a:xfrm>
            <a:off x="0" y="860792"/>
            <a:ext cx="10140144" cy="739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500" b="1" i="0" u="none" strike="noStrike" cap="none">
                <a:solidFill>
                  <a:srgbClr val="FFFFFF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Optimization improvements</a:t>
            </a:r>
            <a:endParaRPr/>
          </a:p>
        </p:txBody>
      </p:sp>
      <p:sp>
        <p:nvSpPr>
          <p:cNvPr id="136" name="Google Shape;136;p21"/>
          <p:cNvSpPr txBox="1"/>
          <p:nvPr/>
        </p:nvSpPr>
        <p:spPr>
          <a:xfrm>
            <a:off x="913309" y="2570922"/>
            <a:ext cx="16243200" cy="70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733664" marR="0" lvl="1" indent="-347909" algn="l" rtl="0">
              <a:lnSpc>
                <a:spcPct val="124985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100"/>
              <a:buFont typeface="Arial"/>
              <a:buChar char="•"/>
            </a:pPr>
            <a:r>
              <a:rPr lang="en-US" sz="3100" b="0" i="0" u="none" strike="noStrike" cap="none">
                <a:solidFill>
                  <a:srgbClr val="FFFFFF"/>
                </a:solidFill>
                <a:latin typeface="Questrial"/>
                <a:ea typeface="Questrial"/>
                <a:cs typeface="Questrial"/>
                <a:sym typeface="Questrial"/>
              </a:rPr>
              <a:t>Transposition table - caches evaluated board states to avoid recomputing identical positions</a:t>
            </a:r>
            <a:endParaRPr sz="3100"/>
          </a:p>
          <a:p>
            <a:pPr marL="0" marR="0" lvl="0" indent="0" algn="l" rtl="0">
              <a:lnSpc>
                <a:spcPct val="124985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3100" b="0" i="0" u="none" strike="noStrike" cap="none">
              <a:solidFill>
                <a:srgbClr val="FFFFFF"/>
              </a:solidFill>
              <a:latin typeface="Questrial"/>
              <a:ea typeface="Questrial"/>
              <a:cs typeface="Questrial"/>
              <a:sym typeface="Questrial"/>
            </a:endParaRPr>
          </a:p>
          <a:p>
            <a:pPr marL="733664" marR="0" lvl="1" indent="-347909" algn="l" rtl="0">
              <a:lnSpc>
                <a:spcPct val="124985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100"/>
              <a:buFont typeface="Arial"/>
              <a:buChar char="•"/>
            </a:pPr>
            <a:r>
              <a:rPr lang="en-US" sz="3100" b="0" i="0" u="none" strike="noStrike" cap="none">
                <a:solidFill>
                  <a:srgbClr val="FFFFFF"/>
                </a:solidFill>
                <a:latin typeface="Questrial"/>
                <a:ea typeface="Questrial"/>
                <a:cs typeface="Questrial"/>
                <a:sym typeface="Questrial"/>
              </a:rPr>
              <a:t>Probability pruning - cuts branches where cumulative probability drops below 0.0001</a:t>
            </a:r>
            <a:endParaRPr sz="3100"/>
          </a:p>
          <a:p>
            <a:pPr marL="0" marR="0" lvl="0" indent="0" algn="l" rtl="0">
              <a:lnSpc>
                <a:spcPct val="124985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3100" b="0" i="0" u="none" strike="noStrike" cap="none">
              <a:solidFill>
                <a:srgbClr val="FFFFFF"/>
              </a:solidFill>
              <a:latin typeface="Questrial"/>
              <a:ea typeface="Questrial"/>
              <a:cs typeface="Questrial"/>
              <a:sym typeface="Questrial"/>
            </a:endParaRPr>
          </a:p>
          <a:p>
            <a:pPr marL="733664" marR="0" lvl="1" indent="-347909" algn="l" rtl="0">
              <a:lnSpc>
                <a:spcPct val="124985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100"/>
              <a:buFont typeface="Arial"/>
              <a:buChar char="•"/>
            </a:pPr>
            <a:r>
              <a:rPr lang="en-US" sz="3100" b="0" i="0" u="none" strike="noStrike" cap="none">
                <a:solidFill>
                  <a:srgbClr val="FFFFFF"/>
                </a:solidFill>
                <a:latin typeface="Questrial"/>
                <a:ea typeface="Questrial"/>
                <a:cs typeface="Questrial"/>
                <a:sym typeface="Questrial"/>
              </a:rPr>
              <a:t>Adaptive depth - 6 plies on an open board, up to 10 when two or fewer cells are empty</a:t>
            </a:r>
            <a:endParaRPr sz="3100"/>
          </a:p>
          <a:p>
            <a:pPr marL="0" marR="0" lvl="0" indent="0" algn="l" rtl="0">
              <a:lnSpc>
                <a:spcPct val="124985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3100" b="0" i="0" u="none" strike="noStrike" cap="none">
              <a:solidFill>
                <a:srgbClr val="FFFFFF"/>
              </a:solidFill>
              <a:latin typeface="Questrial"/>
              <a:ea typeface="Questrial"/>
              <a:cs typeface="Questrial"/>
              <a:sym typeface="Questrial"/>
            </a:endParaRPr>
          </a:p>
          <a:p>
            <a:pPr marL="733664" marR="0" lvl="1" indent="-347909" algn="l" rtl="0">
              <a:lnSpc>
                <a:spcPct val="124985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100"/>
              <a:buFont typeface="Arial"/>
              <a:buChar char="•"/>
            </a:pPr>
            <a:r>
              <a:rPr lang="en-US" sz="3100" b="0" i="0" u="none" strike="noStrike" cap="none">
                <a:solidFill>
                  <a:srgbClr val="FFFFFF"/>
                </a:solidFill>
                <a:latin typeface="Questrial"/>
                <a:ea typeface="Questrial"/>
                <a:cs typeface="Questrial"/>
                <a:sym typeface="Questrial"/>
              </a:rPr>
              <a:t>Iterative deepening - searches depth 1, 2, 3... each pass warms the cache for the next</a:t>
            </a:r>
            <a:endParaRPr sz="3100"/>
          </a:p>
          <a:p>
            <a:pPr marL="0" marR="0" lvl="0" indent="0" algn="l" rtl="0">
              <a:lnSpc>
                <a:spcPct val="124985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3100" b="0" i="0" u="none" strike="noStrike" cap="none">
              <a:solidFill>
                <a:srgbClr val="FFFFFF"/>
              </a:solidFill>
              <a:latin typeface="Questrial"/>
              <a:ea typeface="Questrial"/>
              <a:cs typeface="Questrial"/>
              <a:sym typeface="Questrial"/>
            </a:endParaRPr>
          </a:p>
          <a:p>
            <a:pPr marL="0" marR="0" lvl="0" indent="0" algn="l" rtl="0">
              <a:lnSpc>
                <a:spcPct val="12498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00" b="0" i="0" u="none" strike="noStrike" cap="none">
                <a:solidFill>
                  <a:srgbClr val="FFFFFF"/>
                </a:solidFill>
                <a:latin typeface="Questrial"/>
                <a:ea typeface="Questrial"/>
                <a:cs typeface="Questrial"/>
                <a:sym typeface="Questrial"/>
              </a:rPr>
              <a:t>How much this optimizes algorithm depends on depth and number of empty cells. For comparison, at depth 4 with 4 empty cells, vanilla algorithm explores ~500K states, while my implementation explores ~30K–60K states</a:t>
            </a:r>
            <a:endParaRPr sz="3100">
              <a:solidFill>
                <a:srgbClr val="FFFFFF"/>
              </a:solidFill>
              <a:latin typeface="Questrial"/>
              <a:ea typeface="Questrial"/>
              <a:cs typeface="Questrial"/>
              <a:sym typeface="Quest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2"/>
          <p:cNvSpPr/>
          <p:nvPr/>
        </p:nvSpPr>
        <p:spPr>
          <a:xfrm>
            <a:off x="0" y="320040"/>
            <a:ext cx="18288000" cy="9646920"/>
          </a:xfrm>
          <a:custGeom>
            <a:avLst/>
            <a:gdLst/>
            <a:ahLst/>
            <a:cxnLst/>
            <a:rect l="l" t="t" r="r" b="b"/>
            <a:pathLst>
              <a:path w="18288000" h="9646920" extrusionOk="0">
                <a:moveTo>
                  <a:pt x="0" y="0"/>
                </a:moveTo>
                <a:lnTo>
                  <a:pt x="18288000" y="0"/>
                </a:lnTo>
                <a:lnTo>
                  <a:pt x="18288000" y="9646920"/>
                </a:lnTo>
                <a:lnTo>
                  <a:pt x="0" y="964692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6F34"/>
        </a:solidFill>
        <a:effectLst/>
      </p:bgPr>
    </p:bg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3"/>
          <p:cNvSpPr txBox="1"/>
          <p:nvPr/>
        </p:nvSpPr>
        <p:spPr>
          <a:xfrm>
            <a:off x="10526328" y="4153820"/>
            <a:ext cx="8168371" cy="2066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0" b="1" i="0" u="none" strike="noStrike" cap="none">
                <a:solidFill>
                  <a:srgbClr val="FFFFFF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04</a:t>
            </a:r>
            <a:endParaRPr/>
          </a:p>
        </p:txBody>
      </p:sp>
      <p:sp>
        <p:nvSpPr>
          <p:cNvPr id="147" name="Google Shape;147;p23"/>
          <p:cNvSpPr txBox="1"/>
          <p:nvPr/>
        </p:nvSpPr>
        <p:spPr>
          <a:xfrm>
            <a:off x="975629" y="3673473"/>
            <a:ext cx="8168371" cy="27876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999" b="1" i="0" u="none" strike="noStrike" cap="none">
                <a:solidFill>
                  <a:srgbClr val="FFFFFF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Heuristics - brain of the AI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6F34"/>
        </a:solidFill>
        <a:effectLst/>
      </p:bgPr>
    </p:bg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4"/>
          <p:cNvSpPr/>
          <p:nvPr/>
        </p:nvSpPr>
        <p:spPr>
          <a:xfrm>
            <a:off x="6822887" y="3479159"/>
            <a:ext cx="4776223" cy="4776223"/>
          </a:xfrm>
          <a:custGeom>
            <a:avLst/>
            <a:gdLst/>
            <a:ahLst/>
            <a:cxnLst/>
            <a:rect l="l" t="t" r="r" b="b"/>
            <a:pathLst>
              <a:path w="4776223" h="4776223" extrusionOk="0">
                <a:moveTo>
                  <a:pt x="0" y="0"/>
                </a:moveTo>
                <a:lnTo>
                  <a:pt x="4776223" y="0"/>
                </a:lnTo>
                <a:lnTo>
                  <a:pt x="4776223" y="4776223"/>
                </a:lnTo>
                <a:lnTo>
                  <a:pt x="0" y="477622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53" name="Google Shape;153;p24"/>
          <p:cNvSpPr txBox="1"/>
          <p:nvPr/>
        </p:nvSpPr>
        <p:spPr>
          <a:xfrm>
            <a:off x="5442571" y="676275"/>
            <a:ext cx="10638300" cy="9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i="0" u="none" strike="noStrike" cap="none">
                <a:solidFill>
                  <a:srgbClr val="FFFFFF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Heuristics Overview</a:t>
            </a:r>
            <a:endParaRPr/>
          </a:p>
        </p:txBody>
      </p:sp>
      <p:sp>
        <p:nvSpPr>
          <p:cNvPr id="154" name="TextBox 154"/>
          <p:cNvSpPr txBox="1"/>
          <p:nvPr/>
        </p:nvSpPr>
        <p:spPr>
          <a:xfrm>
            <a:off x="6500000" y="2350000"/>
            <a:ext cx="5400000" cy="4698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98" b="0" i="0" u="none" strike="noStrike" cap="none">
                <a:solidFill>
                  <a:srgbClr val="FFFFFF"/>
                </a:solidFill>
                <a:latin typeface="Questrial"/>
                <a:ea typeface="Questrial"/>
                <a:cs typeface="Questrial"/>
                <a:sym typeface="Questrial"/>
              </a:rPr>
              <a:t>Empty cells</a:t>
            </a:r>
            <a:endParaRPr/>
          </a:p>
        </p:txBody>
      </p:sp>
      <p:sp>
        <p:nvSpPr>
          <p:cNvPr id="155" name="TextBox 155"/>
          <p:cNvSpPr txBox="1"/>
          <p:nvPr/>
        </p:nvSpPr>
        <p:spPr>
          <a:xfrm>
            <a:off x="1500000" y="5600000"/>
            <a:ext cx="5100000" cy="4698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98" b="0" i="0" u="none" strike="noStrike" cap="none">
                <a:solidFill>
                  <a:srgbClr val="FFFFFF"/>
                </a:solidFill>
                <a:latin typeface="Questrial"/>
                <a:ea typeface="Questrial"/>
                <a:cs typeface="Questrial"/>
                <a:sym typeface="Questrial"/>
              </a:rPr>
              <a:t>Available merges</a:t>
            </a:r>
            <a:endParaRPr/>
          </a:p>
        </p:txBody>
      </p:sp>
      <p:sp>
        <p:nvSpPr>
          <p:cNvPr id="156" name="TextBox 156"/>
          <p:cNvSpPr txBox="1"/>
          <p:nvPr/>
        </p:nvSpPr>
        <p:spPr>
          <a:xfrm>
            <a:off x="11800000" y="5600000"/>
            <a:ext cx="5800000" cy="4698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98" b="0" i="0" u="none" strike="noStrike" cap="none">
                <a:solidFill>
                  <a:srgbClr val="FFFFFF"/>
                </a:solidFill>
                <a:latin typeface="Questrial"/>
                <a:ea typeface="Questrial"/>
                <a:cs typeface="Questrial"/>
                <a:sym typeface="Questrial"/>
              </a:rPr>
              <a:t>Monotonicity (rank</a:t>
            </a:r>
            <a:r>
              <a:rPr lang="en-US" sz="3498" b="0" i="0" u="none" strike="noStrike" cap="none" baseline="30000">
                <a:solidFill>
                  <a:srgbClr val="FFFFFF"/>
                </a:solidFill>
                <a:latin typeface="Questrial"/>
                <a:ea typeface="Questrial"/>
                <a:cs typeface="Questrial"/>
                <a:sym typeface="Questrial"/>
              </a:rPr>
              <a:t>4</a:t>
            </a:r>
            <a:r>
              <a:rPr lang="en-US" sz="3498" b="0" i="0" u="none" strike="noStrike" cap="none">
                <a:solidFill>
                  <a:srgbClr val="FFFFFF"/>
                </a:solidFill>
                <a:latin typeface="Questrial"/>
                <a:ea typeface="Questrial"/>
                <a:cs typeface="Questrial"/>
                <a:sym typeface="Questrial"/>
              </a:rPr>
              <a:t>)</a:t>
            </a:r>
            <a:endParaRPr/>
          </a:p>
        </p:txBody>
      </p:sp>
      <p:sp>
        <p:nvSpPr>
          <p:cNvPr id="157" name="TextBox 157"/>
          <p:cNvSpPr txBox="1"/>
          <p:nvPr/>
        </p:nvSpPr>
        <p:spPr>
          <a:xfrm>
            <a:off x="5900000" y="8500000"/>
            <a:ext cx="6600000" cy="4698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98" b="0" i="0" u="none" strike="noStrike" cap="none">
                <a:solidFill>
                  <a:srgbClr val="FFFFFF"/>
                </a:solidFill>
                <a:latin typeface="Questrial"/>
                <a:ea typeface="Questrial"/>
                <a:cs typeface="Questrial"/>
                <a:sym typeface="Questrial"/>
              </a:rPr>
              <a:t>Clutter penalty (rank</a:t>
            </a:r>
            <a:r>
              <a:rPr lang="en-US" sz="3498" b="0" i="0" u="none" strike="noStrike" cap="none" baseline="30000">
                <a:solidFill>
                  <a:srgbClr val="FFFFFF"/>
                </a:solidFill>
                <a:latin typeface="Questrial"/>
                <a:ea typeface="Questrial"/>
                <a:cs typeface="Questrial"/>
                <a:sym typeface="Questrial"/>
              </a:rPr>
              <a:t>3.5</a:t>
            </a:r>
            <a:r>
              <a:rPr lang="en-US" sz="3498" b="0" i="0" u="none" strike="noStrike" cap="none">
                <a:solidFill>
                  <a:srgbClr val="FFFFFF"/>
                </a:solidFill>
                <a:latin typeface="Questrial"/>
                <a:ea typeface="Questrial"/>
                <a:cs typeface="Questrial"/>
                <a:sym typeface="Questrial"/>
              </a:rPr>
              <a:t>)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6F34"/>
        </a:solidFill>
        <a:effectLst/>
      </p:bgPr>
    </p:bg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5"/>
          <p:cNvSpPr/>
          <p:nvPr/>
        </p:nvSpPr>
        <p:spPr>
          <a:xfrm>
            <a:off x="6016804" y="2077139"/>
            <a:ext cx="6110851" cy="6075664"/>
          </a:xfrm>
          <a:custGeom>
            <a:avLst/>
            <a:gdLst/>
            <a:ahLst/>
            <a:cxnLst/>
            <a:rect l="l" t="t" r="r" b="b"/>
            <a:pathLst>
              <a:path w="6110851" h="6075664" extrusionOk="0">
                <a:moveTo>
                  <a:pt x="0" y="0"/>
                </a:moveTo>
                <a:lnTo>
                  <a:pt x="6110851" y="0"/>
                </a:lnTo>
                <a:lnTo>
                  <a:pt x="6110851" y="6075664"/>
                </a:lnTo>
                <a:lnTo>
                  <a:pt x="0" y="607566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66" name="Google Shape;166;p25"/>
          <p:cNvSpPr txBox="1"/>
          <p:nvPr/>
        </p:nvSpPr>
        <p:spPr>
          <a:xfrm>
            <a:off x="13066757" y="7395425"/>
            <a:ext cx="4568457" cy="12242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98" b="0" i="0" u="none" strike="noStrike" cap="none">
                <a:solidFill>
                  <a:srgbClr val="FFFFFF"/>
                </a:solidFill>
                <a:latin typeface="Questrial"/>
                <a:ea typeface="Questrial"/>
                <a:cs typeface="Questrial"/>
                <a:sym typeface="Questrial"/>
              </a:rPr>
              <a:t>Tiles are monotonically increasing, mixed patterns are penalized</a:t>
            </a:r>
            <a:endParaRPr/>
          </a:p>
        </p:txBody>
      </p:sp>
      <p:sp>
        <p:nvSpPr>
          <p:cNvPr id="167" name="Google Shape;167;p25"/>
          <p:cNvSpPr txBox="1"/>
          <p:nvPr/>
        </p:nvSpPr>
        <p:spPr>
          <a:xfrm>
            <a:off x="11900000" y="250000"/>
            <a:ext cx="5900000" cy="824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98" b="0" i="0" u="none" strike="noStrike" cap="none">
                <a:solidFill>
                  <a:srgbClr val="FFFFFF"/>
                </a:solidFill>
                <a:latin typeface="Questrial"/>
                <a:ea typeface="Questrial"/>
                <a:cs typeface="Questrial"/>
                <a:sym typeface="Questrial"/>
              </a:rPr>
              <a:t>No corner bonus: monotonicity alone keeps the big tiles in a corner</a:t>
            </a:r>
            <a:endParaRPr/>
          </a:p>
        </p:txBody>
      </p:sp>
      <p:sp>
        <p:nvSpPr>
          <p:cNvPr id="168" name="Google Shape;168;p25"/>
          <p:cNvSpPr txBox="1"/>
          <p:nvPr/>
        </p:nvSpPr>
        <p:spPr>
          <a:xfrm>
            <a:off x="360754" y="3698933"/>
            <a:ext cx="4066064" cy="12242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98" b="0" i="0" u="none" strike="noStrike" cap="none">
                <a:solidFill>
                  <a:srgbClr val="FFFFFF"/>
                </a:solidFill>
                <a:latin typeface="Questrial"/>
                <a:ea typeface="Questrial"/>
                <a:cs typeface="Questrial"/>
                <a:sym typeface="Questrial"/>
              </a:rPr>
              <a:t>More empty space = more room to maneuver</a:t>
            </a:r>
            <a:endParaRPr/>
          </a:p>
        </p:txBody>
      </p:sp>
      <p:sp>
        <p:nvSpPr>
          <p:cNvPr id="169" name="Google Shape;169;p25"/>
          <p:cNvSpPr txBox="1"/>
          <p:nvPr/>
        </p:nvSpPr>
        <p:spPr>
          <a:xfrm>
            <a:off x="6616328" y="9095117"/>
            <a:ext cx="6204900" cy="824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98" b="0" i="0" u="none" strike="noStrike" cap="none">
                <a:solidFill>
                  <a:srgbClr val="FFFFFF"/>
                </a:solidFill>
                <a:latin typeface="Questrial"/>
                <a:ea typeface="Questrial"/>
                <a:cs typeface="Questrial"/>
                <a:sym typeface="Questrial"/>
              </a:rPr>
              <a:t>Clutter penalty: many small tiles spread around the board, each costs rank</a:t>
            </a:r>
            <a:r>
              <a:rPr lang="en-US" sz="3198" b="0" i="0" u="none" strike="noStrike" cap="none" baseline="30000">
                <a:solidFill>
                  <a:srgbClr val="FFFFFF"/>
                </a:solidFill>
                <a:latin typeface="Questrial"/>
                <a:ea typeface="Questrial"/>
                <a:cs typeface="Questrial"/>
                <a:sym typeface="Questrial"/>
              </a:rPr>
              <a:t>3.5</a:t>
            </a:r>
            <a:endParaRPr/>
          </a:p>
        </p:txBody>
      </p:sp>
      <p:cxnSp>
        <p:nvCxnSpPr>
          <p:cNvPr id="170" name="Google Shape;170;p25"/>
          <p:cNvCxnSpPr/>
          <p:nvPr/>
        </p:nvCxnSpPr>
        <p:spPr>
          <a:xfrm>
            <a:off x="3787003" y="4665042"/>
            <a:ext cx="1423170" cy="899857"/>
          </a:xfrm>
          <a:prstGeom prst="straightConnector1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stealth" w="med" len="med"/>
          </a:ln>
        </p:spPr>
      </p:cxnSp>
      <p:cxnSp>
        <p:nvCxnSpPr>
          <p:cNvPr id="171" name="Google Shape;171;p25"/>
          <p:cNvCxnSpPr/>
          <p:nvPr/>
        </p:nvCxnSpPr>
        <p:spPr>
          <a:xfrm rot="10800000">
            <a:off x="12787123" y="5562924"/>
            <a:ext cx="1838836" cy="1585009"/>
          </a:xfrm>
          <a:prstGeom prst="straightConnector1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stealth" w="med" len="med"/>
          </a:ln>
        </p:spPr>
      </p:cxnSp>
      <p:cxnSp>
        <p:nvCxnSpPr>
          <p:cNvPr id="172" name="Google Shape;172;p25"/>
          <p:cNvCxnSpPr/>
          <p:nvPr/>
        </p:nvCxnSpPr>
        <p:spPr>
          <a:xfrm flipH="1">
            <a:off x="12141724" y="1000387"/>
            <a:ext cx="679504" cy="744308"/>
          </a:xfrm>
          <a:prstGeom prst="straightConnector1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stealth" w="med" len="med"/>
          </a:ln>
        </p:spPr>
      </p:cxnSp>
      <p:cxnSp>
        <p:nvCxnSpPr>
          <p:cNvPr id="173" name="Google Shape;173;p25"/>
          <p:cNvCxnSpPr/>
          <p:nvPr/>
        </p:nvCxnSpPr>
        <p:spPr>
          <a:xfrm rot="10800000" flipH="1">
            <a:off x="10669979" y="8466624"/>
            <a:ext cx="315350" cy="374557"/>
          </a:xfrm>
          <a:prstGeom prst="straightConnector1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stealth" w="med" len="med"/>
          </a:ln>
        </p:spPr>
      </p:cxnSp>
      <p:cxnSp>
        <p:nvCxnSpPr>
          <p:cNvPr id="174" name="Google Shape;174;p25"/>
          <p:cNvCxnSpPr/>
          <p:nvPr/>
        </p:nvCxnSpPr>
        <p:spPr>
          <a:xfrm rot="10800000">
            <a:off x="10008622" y="8477059"/>
            <a:ext cx="268220" cy="409630"/>
          </a:xfrm>
          <a:prstGeom prst="straightConnector1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stealth" w="med" len="med"/>
          </a:ln>
        </p:spPr>
      </p:cxn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6F34"/>
        </a:solidFill>
        <a:effectLst/>
      </p:bgPr>
    </p:bg>
    <p:spTree>
      <p:nvGrpSpPr>
        <p:cNvPr id="1" name="Shape 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0526328" y="4153820"/>
            <a:ext cx="8168371" cy="2066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0" b="1" i="0" u="none" strike="noStrike" cap="none">
                <a:solidFill>
                  <a:srgbClr val="FFFFFF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05</a:t>
            </a:r>
            <a:endParaRPr/>
          </a:p>
        </p:txBody>
      </p:sp>
      <p:sp>
        <p:nvSpPr>
          <p:cNvPr id="3" name="TextBox 3"/>
          <p:cNvSpPr txBox="1"/>
          <p:nvPr/>
        </p:nvSpPr>
        <p:spPr>
          <a:xfrm>
            <a:off x="975629" y="3673473"/>
            <a:ext cx="8168371" cy="27876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999" b="1" i="0" u="none" strike="noStrike" cap="none">
                <a:solidFill>
                  <a:srgbClr val="FFFFFF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TD N-Tuple - learning to play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6F34"/>
        </a:solidFill>
        <a:effectLst/>
      </p:bgPr>
    </p:bg>
    <p:spTree>
      <p:nvGrpSpPr>
        <p:cNvPr id="1" name="Shape 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604654" y="956475"/>
            <a:ext cx="162432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500" b="1" i="0" u="none" strike="noStrike" cap="none">
                <a:solidFill>
                  <a:srgbClr val="FFFFFF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N-tuple network</a:t>
            </a:r>
            <a:endParaRPr/>
          </a:p>
        </p:txBody>
      </p:sp>
      <p:sp>
        <p:nvSpPr>
          <p:cNvPr id="3" name="TextBox 3"/>
          <p:cNvSpPr txBox="1"/>
          <p:nvPr/>
        </p:nvSpPr>
        <p:spPr>
          <a:xfrm>
            <a:off x="723864" y="2565016"/>
            <a:ext cx="16243200" cy="644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733664" marR="0" lvl="1" indent="-347909" algn="l" rtl="0">
              <a:lnSpc>
                <a:spcPct val="124985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100"/>
              <a:buFont typeface="Arial"/>
              <a:buChar char="•"/>
            </a:pPr>
            <a:r>
              <a:rPr lang="en-US" sz="3100" b="0" i="0" u="none" strike="noStrike" cap="none" dirty="0">
                <a:solidFill>
                  <a:srgbClr val="FFFFFF"/>
                </a:solidFill>
                <a:latin typeface="Questrial"/>
                <a:ea typeface="Questrial"/>
                <a:cs typeface="Questrial"/>
                <a:sym typeface="Questrial"/>
              </a:rPr>
              <a:t>An n-tuple is a fixed set of board cells; its table has 16^n entries, indexed by packing the 4-bit ranks of those cells together - a few shifts on the bitboard</a:t>
            </a:r>
            <a:endParaRPr sz="3100" dirty="0"/>
          </a:p>
          <a:p>
            <a:pPr marL="0" marR="0" lvl="0" indent="0" algn="l" rtl="0">
              <a:lnSpc>
                <a:spcPct val="124985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dirty="0"/>
          </a:p>
          <a:p>
            <a:pPr marL="733664" marR="0" lvl="1" indent="-347909" algn="l" rtl="0">
              <a:lnSpc>
                <a:spcPct val="124985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100"/>
              <a:buFont typeface="Arial"/>
              <a:buChar char="•"/>
            </a:pPr>
            <a:r>
              <a:rPr lang="en-US" sz="3100" b="0" i="0" u="none" strike="noStrike" cap="none" dirty="0">
                <a:solidFill>
                  <a:srgbClr val="FFFFFF"/>
                </a:solidFill>
                <a:latin typeface="Questrial"/>
                <a:ea typeface="Questrial"/>
                <a:cs typeface="Questrial"/>
                <a:sym typeface="Questrial"/>
              </a:rPr>
              <a:t>V(board) is a plain sum of lookups: 8 patterns of 5 cells, and all 8 symmetries of a pattern share one table, so every board trains 64 weights at once</a:t>
            </a:r>
            <a:endParaRPr sz="3100" dirty="0"/>
          </a:p>
          <a:p>
            <a:pPr marL="0" marR="0" lvl="0" indent="0" algn="l" rtl="0">
              <a:lnSpc>
                <a:spcPct val="124985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dirty="0"/>
          </a:p>
          <a:p>
            <a:pPr marL="733664" marR="0" lvl="1" indent="-347909" algn="l" rtl="0">
              <a:lnSpc>
                <a:spcPct val="124985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100"/>
              <a:buFont typeface="Arial"/>
              <a:buChar char="•"/>
            </a:pPr>
            <a:r>
              <a:rPr lang="en-US" sz="3100" b="0" i="0" u="none" strike="noStrike" cap="none" dirty="0">
                <a:solidFill>
                  <a:srgbClr val="FFFFFF"/>
                </a:solidFill>
                <a:latin typeface="Questrial"/>
                <a:ea typeface="Questrial"/>
                <a:cs typeface="Questrial"/>
                <a:sym typeface="Questrial"/>
              </a:rPr>
              <a:t>8 x 16^5 = 8.4M weights, 32 MB as float - evaluates in microseconds, trains on a CPU, cannot diverge like a neural network</a:t>
            </a:r>
            <a:endParaRPr sz="3100" dirty="0"/>
          </a:p>
          <a:p>
            <a:pPr marL="0" marR="0" lvl="0" indent="0" algn="l" rtl="0">
              <a:lnSpc>
                <a:spcPct val="124985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dirty="0"/>
          </a:p>
          <a:p>
            <a:pPr marL="733664" marR="0" lvl="1" indent="-347909" algn="l" rtl="0">
              <a:lnSpc>
                <a:spcPct val="124985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100"/>
              <a:buFont typeface="Arial"/>
              <a:buChar char="•"/>
            </a:pPr>
            <a:r>
              <a:rPr lang="en-US" sz="3100" b="0" i="0" u="none" strike="noStrike" cap="none" dirty="0">
                <a:solidFill>
                  <a:srgbClr val="FFFFFF"/>
                </a:solidFill>
                <a:latin typeface="Questrial"/>
                <a:ea typeface="Questrial"/>
                <a:cs typeface="Questrial"/>
                <a:sym typeface="Questrial"/>
              </a:rPr>
              <a:t>The agent plays greedily one move deep: the legal move with the highest reward + V(</a:t>
            </a:r>
            <a:r>
              <a:rPr lang="en-US" sz="3100" b="0" i="0" u="none" strike="noStrike" cap="none" dirty="0" err="1">
                <a:solidFill>
                  <a:srgbClr val="FFFFFF"/>
                </a:solidFill>
                <a:latin typeface="Questrial"/>
                <a:ea typeface="Questrial"/>
                <a:cs typeface="Questrial"/>
                <a:sym typeface="Questrial"/>
              </a:rPr>
              <a:t>afterstate</a:t>
            </a:r>
            <a:r>
              <a:rPr lang="en-US" sz="3100" b="0" i="0" u="none" strike="noStrike" cap="none" dirty="0">
                <a:solidFill>
                  <a:srgbClr val="FFFFFF"/>
                </a:solidFill>
                <a:latin typeface="Questrial"/>
                <a:ea typeface="Questrial"/>
                <a:cs typeface="Questrial"/>
                <a:sym typeface="Questrial"/>
              </a:rPr>
              <a:t>)</a:t>
            </a:r>
            <a:endParaRPr sz="3100" dirty="0"/>
          </a:p>
          <a:p>
            <a:pPr marL="0" marR="0" lvl="0" indent="0" algn="l" rtl="0">
              <a:lnSpc>
                <a:spcPct val="124985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dirty="0"/>
          </a:p>
          <a:p>
            <a:pPr marL="733664" marR="0" lvl="1" indent="-347909" algn="l" rtl="0">
              <a:lnSpc>
                <a:spcPct val="124985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100"/>
              <a:buFont typeface="Arial"/>
              <a:buChar char="•"/>
            </a:pPr>
            <a:r>
              <a:rPr lang="en-US" sz="3100" b="0" i="0" u="none" strike="noStrike" cap="none" dirty="0">
                <a:solidFill>
                  <a:srgbClr val="FFFFFF"/>
                </a:solidFill>
                <a:latin typeface="Questrial"/>
                <a:ea typeface="Questrial"/>
                <a:cs typeface="Questrial"/>
                <a:sym typeface="Questrial"/>
              </a:rPr>
              <a:t>TD + </a:t>
            </a:r>
            <a:r>
              <a:rPr lang="en-US" sz="3100" b="0" i="0" u="none" strike="noStrike" cap="none" dirty="0" err="1">
                <a:solidFill>
                  <a:srgbClr val="FFFFFF"/>
                </a:solidFill>
                <a:latin typeface="Questrial"/>
                <a:ea typeface="Questrial"/>
                <a:cs typeface="Questrial"/>
                <a:sym typeface="Questrial"/>
              </a:rPr>
              <a:t>Expectimax</a:t>
            </a:r>
            <a:r>
              <a:rPr lang="en-US" sz="3100" b="0" i="0" u="none" strike="noStrike" cap="none" dirty="0">
                <a:solidFill>
                  <a:srgbClr val="FFFFFF"/>
                </a:solidFill>
                <a:latin typeface="Questrial"/>
                <a:ea typeface="Questrial"/>
                <a:cs typeface="Questrial"/>
                <a:sym typeface="Questrial"/>
              </a:rPr>
              <a:t>: the same V replaces the hand-written heuristic at the leaves of the search</a:t>
            </a:r>
            <a:endParaRPr sz="3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6F34"/>
        </a:solidFill>
        <a:effectLst/>
      </p:bgPr>
    </p:bg>
    <p:spTree>
      <p:nvGrpSpPr>
        <p:cNvPr id="1" name="Shape 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604654" y="956475"/>
            <a:ext cx="162432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500" b="1" i="0" u="none" strike="noStrike" cap="none">
                <a:solidFill>
                  <a:srgbClr val="FFFFFF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Training by self-play</a:t>
            </a:r>
            <a:endParaRPr/>
          </a:p>
        </p:txBody>
      </p:sp>
      <p:sp>
        <p:nvSpPr>
          <p:cNvPr id="3" name="TextBox 3"/>
          <p:cNvSpPr txBox="1"/>
          <p:nvPr/>
        </p:nvSpPr>
        <p:spPr>
          <a:xfrm>
            <a:off x="723864" y="2565016"/>
            <a:ext cx="16243200" cy="644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733664" marR="0" lvl="1" indent="-347909" algn="l" rtl="0">
              <a:lnSpc>
                <a:spcPct val="124985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100"/>
              <a:buFont typeface="Arial"/>
              <a:buChar char="•"/>
            </a:pPr>
            <a:r>
              <a:rPr lang="en-US" sz="3100" b="0" i="0" u="none" strike="noStrike" cap="none">
                <a:solidFill>
                  <a:srgbClr val="FFFFFF"/>
                </a:solidFill>
                <a:latin typeface="Questrial"/>
                <a:ea typeface="Questrial"/>
                <a:cs typeface="Questrial"/>
                <a:sym typeface="Questrial"/>
              </a:rPr>
              <a:t>TD(0) on afterstates - the board after sliding, before the random tile appears</a:t>
            </a:r>
            <a:endParaRPr sz="3100"/>
          </a:p>
          <a:p>
            <a:pPr marL="0" marR="0" lvl="0" indent="0" algn="l" rtl="0">
              <a:lnSpc>
                <a:spcPct val="124985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/>
          </a:p>
          <a:p>
            <a:pPr marL="733664" marR="0" lvl="1" indent="-347909" algn="l" rtl="0">
              <a:lnSpc>
                <a:spcPct val="124985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100"/>
              <a:buFont typeface="Arial"/>
              <a:buChar char="•"/>
            </a:pPr>
            <a:r>
              <a:rPr lang="en-US" sz="3100" b="0" i="0" u="none" strike="noStrike" cap="none">
                <a:solidFill>
                  <a:srgbClr val="FFFFFF"/>
                </a:solidFill>
                <a:latin typeface="Questrial"/>
                <a:ea typeface="Questrial"/>
                <a:cs typeface="Questrial"/>
                <a:sym typeface="Questrial"/>
              </a:rPr>
              <a:t>V(s′) ← V(s′) + α [ r + V(s′ next) − V(s′) ], α = 0.1, the correction split evenly over the 64 weights the board touches</a:t>
            </a:r>
            <a:endParaRPr sz="3100"/>
          </a:p>
          <a:p>
            <a:pPr marL="0" marR="0" lvl="0" indent="0" algn="l" rtl="0">
              <a:lnSpc>
                <a:spcPct val="124985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/>
          </a:p>
          <a:p>
            <a:pPr marL="733664" marR="0" lvl="1" indent="-347909" algn="l" rtl="0">
              <a:lnSpc>
                <a:spcPct val="124985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100"/>
              <a:buFont typeface="Arial"/>
              <a:buChar char="•"/>
            </a:pPr>
            <a:r>
              <a:rPr lang="en-US" sz="3100" b="0" i="0" u="none" strike="noStrike" cap="none">
                <a:solidFill>
                  <a:srgbClr val="FFFFFF"/>
                </a:solidFill>
                <a:latin typeface="Questrial"/>
                <a:ea typeface="Questrial"/>
                <a:cs typeface="Questrial"/>
                <a:sym typeface="Questrial"/>
              </a:rPr>
              <a:t>Afterstates remove the spawn randomness from the target, which is why this converges much faster than learning the value of states</a:t>
            </a:r>
            <a:endParaRPr sz="3100"/>
          </a:p>
          <a:p>
            <a:pPr marL="0" marR="0" lvl="0" indent="0" algn="l" rtl="0">
              <a:lnSpc>
                <a:spcPct val="124985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/>
          </a:p>
          <a:p>
            <a:pPr marL="733664" marR="0" lvl="1" indent="-347909" algn="l" rtl="0">
              <a:lnSpc>
                <a:spcPct val="124985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100"/>
              <a:buFont typeface="Arial"/>
              <a:buChar char="•"/>
            </a:pPr>
            <a:r>
              <a:rPr lang="en-US" sz="3100" b="0" i="0" u="none" strike="noStrike" cap="none">
                <a:solidFill>
                  <a:srgbClr val="FFFFFF"/>
                </a:solidFill>
                <a:latin typeface="Questrial"/>
                <a:ea typeface="Questrial"/>
                <a:cs typeface="Questrial"/>
                <a:sym typeface="Questrial"/>
              </a:rPr>
              <a:t>Greedy the whole time - the random spawns give enough exploration, no epsilon needed</a:t>
            </a:r>
            <a:endParaRPr sz="3100"/>
          </a:p>
          <a:p>
            <a:pPr marL="0" marR="0" lvl="0" indent="0" algn="l" rtl="0">
              <a:lnSpc>
                <a:spcPct val="124985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/>
          </a:p>
          <a:p>
            <a:pPr marL="733664" marR="0" lvl="1" indent="-347909" algn="l" rtl="0">
              <a:lnSpc>
                <a:spcPct val="124985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100"/>
              <a:buFont typeface="Arial"/>
              <a:buChar char="•"/>
            </a:pPr>
            <a:r>
              <a:rPr lang="en-US" sz="3100" b="0" i="0" u="none" strike="noStrike" cap="none">
                <a:solidFill>
                  <a:srgbClr val="FFFFFF"/>
                </a:solidFill>
                <a:latin typeface="Questrial"/>
                <a:ea typeface="Questrial"/>
                <a:cs typeface="Questrial"/>
                <a:sym typeface="Questrial"/>
              </a:rPr>
              <a:t>Console trainer prints statistics and writes a checkpoint every K games, so a run can be stopped and resumed at any time</a:t>
            </a:r>
            <a:endParaRPr sz="31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6F34"/>
        </a:solidFill>
        <a:effectLst/>
      </p:bgPr>
    </p:bg>
    <p:spTree>
      <p:nvGrpSpPr>
        <p:cNvPr id="1" name="Shape 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604654" y="956475"/>
            <a:ext cx="162432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500" b="1" i="0" u="none" strike="noStrike" cap="none">
                <a:solidFill>
                  <a:srgbClr val="FFFFFF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Results</a:t>
            </a:r>
            <a:endParaRPr/>
          </a:p>
        </p:txBody>
      </p:sp>
      <p:graphicFrame>
        <p:nvGraphicFramePr>
          <p:cNvPr id="3" name="Table 3"/>
          <p:cNvGraphicFramePr>
            <a:graphicFrameLocks noGrp="1"/>
          </p:cNvGraphicFramePr>
          <p:nvPr/>
        </p:nvGraphicFramePr>
        <p:xfrm>
          <a:off x="3044000" y="2350000"/>
          <a:ext cx="12200000" cy="3840000"/>
        </p:xfrm>
        <a:graphic>
          <a:graphicData uri="http://schemas.openxmlformats.org/drawingml/2006/table">
            <a:tbl>
              <a:tblPr firstRow="1"/>
              <a:tblGrid>
                <a:gridCol w="26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0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0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40000">
                <a:tc>
                  <a:txBody>
                    <a:bodyPr/>
                    <a:lstStyle/>
                    <a:p>
                      <a:pPr algn="ctr"/>
                      <a:r>
                        <a:rPr lang="en-US" sz="2800" b="1" i="0" u="none" strike="noStrike" cap="none">
                          <a:solidFill>
                            <a:srgbClr val="FFFFFF"/>
                          </a:solidFill>
                          <a:latin typeface="Questrial"/>
                          <a:ea typeface="Questrial"/>
                          <a:cs typeface="Questrial"/>
                          <a:sym typeface="Questrial"/>
                        </a:rPr>
                        <a:t>Games</a:t>
                      </a:r>
                      <a:endParaRPr sz="2800"/>
                    </a:p>
                  </a:txBody>
                  <a:tcPr marL="91425" marR="91425" marT="45700" marB="45700" anchor="ctr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i="0" u="none" strike="noStrike" cap="none">
                          <a:solidFill>
                            <a:srgbClr val="FFFFFF"/>
                          </a:solidFill>
                          <a:latin typeface="Questrial"/>
                          <a:ea typeface="Questrial"/>
                          <a:cs typeface="Questrial"/>
                          <a:sym typeface="Questrial"/>
                        </a:rPr>
                        <a:t>Mean score</a:t>
                      </a:r>
                      <a:endParaRPr sz="2800"/>
                    </a:p>
                  </a:txBody>
                  <a:tcPr marL="91425" marR="91425" marT="45700" marB="45700" anchor="ctr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i="0" u="none" strike="noStrike" cap="none">
                          <a:solidFill>
                            <a:srgbClr val="FFFFFF"/>
                          </a:solidFill>
                          <a:latin typeface="Questrial"/>
                          <a:ea typeface="Questrial"/>
                          <a:cs typeface="Questrial"/>
                          <a:sym typeface="Questrial"/>
                        </a:rPr>
                        <a:t>2048</a:t>
                      </a:r>
                      <a:endParaRPr sz="2800"/>
                    </a:p>
                  </a:txBody>
                  <a:tcPr marL="91425" marR="91425" marT="45700" marB="45700" anchor="ctr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i="0" u="none" strike="noStrike" cap="none">
                          <a:solidFill>
                            <a:srgbClr val="FFFFFF"/>
                          </a:solidFill>
                          <a:latin typeface="Questrial"/>
                          <a:ea typeface="Questrial"/>
                          <a:cs typeface="Questrial"/>
                          <a:sym typeface="Questrial"/>
                        </a:rPr>
                        <a:t>4096</a:t>
                      </a:r>
                      <a:endParaRPr sz="2800"/>
                    </a:p>
                  </a:txBody>
                  <a:tcPr marL="91425" marR="91425" marT="45700" marB="45700" anchor="ctr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i="0" u="none" strike="noStrike" cap="none">
                          <a:solidFill>
                            <a:srgbClr val="FFFFFF"/>
                          </a:solidFill>
                          <a:latin typeface="Questrial"/>
                          <a:ea typeface="Questrial"/>
                          <a:cs typeface="Questrial"/>
                          <a:sym typeface="Questrial"/>
                        </a:rPr>
                        <a:t>8192</a:t>
                      </a:r>
                      <a:endParaRPr sz="2800"/>
                    </a:p>
                  </a:txBody>
                  <a:tcPr marL="91425" marR="91425" marT="45700" marB="45700" anchor="ctr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00">
                <a:tc>
                  <a:txBody>
                    <a:bodyPr/>
                    <a:lstStyle/>
                    <a:p>
                      <a:pPr algn="ctr"/>
                      <a:r>
                        <a:rPr lang="en-US" sz="2800" b="0" i="0" u="none" strike="noStrike" cap="none">
                          <a:solidFill>
                            <a:srgbClr val="FFFFFF"/>
                          </a:solidFill>
                          <a:latin typeface="Questrial"/>
                          <a:ea typeface="Questrial"/>
                          <a:cs typeface="Questrial"/>
                          <a:sym typeface="Questrial"/>
                        </a:rPr>
                        <a:t>20,000</a:t>
                      </a:r>
                      <a:endParaRPr sz="2800"/>
                    </a:p>
                  </a:txBody>
                  <a:tcPr marL="91425" marR="91425" marT="45700" marB="45700" anchor="ctr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i="0" u="none" strike="noStrike" cap="none">
                          <a:solidFill>
                            <a:srgbClr val="FFFFFF"/>
                          </a:solidFill>
                          <a:latin typeface="Questrial"/>
                          <a:ea typeface="Questrial"/>
                          <a:cs typeface="Questrial"/>
                          <a:sym typeface="Questrial"/>
                        </a:rPr>
                        <a:t>27,446</a:t>
                      </a:r>
                      <a:endParaRPr sz="2800"/>
                    </a:p>
                  </a:txBody>
                  <a:tcPr marL="91425" marR="91425" marT="45700" marB="45700" anchor="ctr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i="0" u="none" strike="noStrike" cap="none">
                          <a:solidFill>
                            <a:srgbClr val="FFFFFF"/>
                          </a:solidFill>
                          <a:latin typeface="Questrial"/>
                          <a:ea typeface="Questrial"/>
                          <a:cs typeface="Questrial"/>
                          <a:sym typeface="Questrial"/>
                        </a:rPr>
                        <a:t>50%</a:t>
                      </a:r>
                      <a:endParaRPr sz="2800"/>
                    </a:p>
                  </a:txBody>
                  <a:tcPr marL="91425" marR="91425" marT="45700" marB="45700" anchor="ctr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i="0" u="none" strike="noStrike" cap="none">
                          <a:solidFill>
                            <a:srgbClr val="FFFFFF"/>
                          </a:solidFill>
                          <a:latin typeface="Questrial"/>
                          <a:ea typeface="Questrial"/>
                          <a:cs typeface="Questrial"/>
                          <a:sym typeface="Questrial"/>
                        </a:rPr>
                        <a:t>10%</a:t>
                      </a:r>
                      <a:endParaRPr sz="2800"/>
                    </a:p>
                  </a:txBody>
                  <a:tcPr marL="91425" marR="91425" marT="45700" marB="45700" anchor="ctr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i="0" u="none" strike="noStrike" cap="none">
                          <a:solidFill>
                            <a:srgbClr val="FFFFFF"/>
                          </a:solidFill>
                          <a:latin typeface="Questrial"/>
                          <a:ea typeface="Questrial"/>
                          <a:cs typeface="Questrial"/>
                          <a:sym typeface="Questrial"/>
                        </a:rPr>
                        <a:t>-</a:t>
                      </a:r>
                      <a:endParaRPr sz="2800"/>
                    </a:p>
                  </a:txBody>
                  <a:tcPr marL="91425" marR="91425" marT="45700" marB="45700" anchor="ctr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00">
                <a:tc>
                  <a:txBody>
                    <a:bodyPr/>
                    <a:lstStyle/>
                    <a:p>
                      <a:pPr algn="ctr"/>
                      <a:r>
                        <a:rPr lang="en-US" sz="2800" b="0" i="0" u="none" strike="noStrike" cap="none">
                          <a:solidFill>
                            <a:srgbClr val="FFFFFF"/>
                          </a:solidFill>
                          <a:latin typeface="Questrial"/>
                          <a:ea typeface="Questrial"/>
                          <a:cs typeface="Questrial"/>
                          <a:sym typeface="Questrial"/>
                        </a:rPr>
                        <a:t>60,000</a:t>
                      </a:r>
                      <a:endParaRPr sz="2800"/>
                    </a:p>
                  </a:txBody>
                  <a:tcPr marL="91425" marR="91425" marT="45700" marB="45700" anchor="ctr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i="0" u="none" strike="noStrike" cap="none">
                          <a:solidFill>
                            <a:srgbClr val="FFFFFF"/>
                          </a:solidFill>
                          <a:latin typeface="Questrial"/>
                          <a:ea typeface="Questrial"/>
                          <a:cs typeface="Questrial"/>
                          <a:sym typeface="Questrial"/>
                        </a:rPr>
                        <a:t>58,733</a:t>
                      </a:r>
                      <a:endParaRPr sz="2800"/>
                    </a:p>
                  </a:txBody>
                  <a:tcPr marL="91425" marR="91425" marT="45700" marB="45700" anchor="ctr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i="0" u="none" strike="noStrike" cap="none">
                          <a:solidFill>
                            <a:srgbClr val="FFFFFF"/>
                          </a:solidFill>
                          <a:latin typeface="Questrial"/>
                          <a:ea typeface="Questrial"/>
                          <a:cs typeface="Questrial"/>
                          <a:sym typeface="Questrial"/>
                        </a:rPr>
                        <a:t>92%</a:t>
                      </a:r>
                      <a:endParaRPr sz="2800"/>
                    </a:p>
                  </a:txBody>
                  <a:tcPr marL="91425" marR="91425" marT="45700" marB="45700" anchor="ctr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i="0" u="none" strike="noStrike" cap="none">
                          <a:solidFill>
                            <a:srgbClr val="FFFFFF"/>
                          </a:solidFill>
                          <a:latin typeface="Questrial"/>
                          <a:ea typeface="Questrial"/>
                          <a:cs typeface="Questrial"/>
                          <a:sym typeface="Questrial"/>
                        </a:rPr>
                        <a:t>63%</a:t>
                      </a:r>
                      <a:endParaRPr sz="2800"/>
                    </a:p>
                  </a:txBody>
                  <a:tcPr marL="91425" marR="91425" marT="45700" marB="45700" anchor="ctr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i="0" u="none" strike="noStrike" cap="none">
                          <a:solidFill>
                            <a:srgbClr val="FFFFFF"/>
                          </a:solidFill>
                          <a:latin typeface="Questrial"/>
                          <a:ea typeface="Questrial"/>
                          <a:cs typeface="Questrial"/>
                          <a:sym typeface="Questrial"/>
                        </a:rPr>
                        <a:t>3%</a:t>
                      </a:r>
                      <a:endParaRPr sz="2800"/>
                    </a:p>
                  </a:txBody>
                  <a:tcPr marL="91425" marR="91425" marT="45700" marB="45700" anchor="ctr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0000">
                <a:tc>
                  <a:txBody>
                    <a:bodyPr/>
                    <a:lstStyle/>
                    <a:p>
                      <a:pPr algn="ctr"/>
                      <a:r>
                        <a:rPr lang="en-US" sz="2800" b="0" i="0" u="none" strike="noStrike" cap="none">
                          <a:solidFill>
                            <a:srgbClr val="FFFFFF"/>
                          </a:solidFill>
                          <a:latin typeface="Questrial"/>
                          <a:ea typeface="Questrial"/>
                          <a:cs typeface="Questrial"/>
                          <a:sym typeface="Questrial"/>
                        </a:rPr>
                        <a:t>100,000</a:t>
                      </a:r>
                      <a:endParaRPr sz="2800"/>
                    </a:p>
                  </a:txBody>
                  <a:tcPr marL="91425" marR="91425" marT="45700" marB="45700" anchor="ctr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i="0" u="none" strike="noStrike" cap="none">
                          <a:solidFill>
                            <a:srgbClr val="FFFFFF"/>
                          </a:solidFill>
                          <a:latin typeface="Questrial"/>
                          <a:ea typeface="Questrial"/>
                          <a:cs typeface="Questrial"/>
                          <a:sym typeface="Questrial"/>
                        </a:rPr>
                        <a:t>67,354</a:t>
                      </a:r>
                      <a:endParaRPr sz="2800"/>
                    </a:p>
                  </a:txBody>
                  <a:tcPr marL="91425" marR="91425" marT="45700" marB="45700" anchor="ctr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i="0" u="none" strike="noStrike" cap="none">
                          <a:solidFill>
                            <a:srgbClr val="FFFFFF"/>
                          </a:solidFill>
                          <a:latin typeface="Questrial"/>
                          <a:ea typeface="Questrial"/>
                          <a:cs typeface="Questrial"/>
                          <a:sym typeface="Questrial"/>
                        </a:rPr>
                        <a:t>95%</a:t>
                      </a:r>
                      <a:endParaRPr sz="2800"/>
                    </a:p>
                  </a:txBody>
                  <a:tcPr marL="91425" marR="91425" marT="45700" marB="45700" anchor="ctr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i="0" u="none" strike="noStrike" cap="none">
                          <a:solidFill>
                            <a:srgbClr val="FFFFFF"/>
                          </a:solidFill>
                          <a:latin typeface="Questrial"/>
                          <a:ea typeface="Questrial"/>
                          <a:cs typeface="Questrial"/>
                          <a:sym typeface="Questrial"/>
                        </a:rPr>
                        <a:t>77%</a:t>
                      </a:r>
                      <a:endParaRPr sz="2800"/>
                    </a:p>
                  </a:txBody>
                  <a:tcPr marL="91425" marR="91425" marT="45700" marB="45700" anchor="ctr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i="0" u="none" strike="noStrike" cap="none">
                          <a:solidFill>
                            <a:srgbClr val="FFFFFF"/>
                          </a:solidFill>
                          <a:latin typeface="Questrial"/>
                          <a:ea typeface="Questrial"/>
                          <a:cs typeface="Questrial"/>
                          <a:sym typeface="Questrial"/>
                        </a:rPr>
                        <a:t>7%</a:t>
                      </a:r>
                      <a:endParaRPr sz="2800"/>
                    </a:p>
                  </a:txBody>
                  <a:tcPr marL="91425" marR="91425" marT="45700" marB="45700" anchor="ctr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0000">
                <a:tc>
                  <a:txBody>
                    <a:bodyPr/>
                    <a:lstStyle/>
                    <a:p>
                      <a:pPr algn="ctr"/>
                      <a:r>
                        <a:rPr lang="en-US" sz="2800" b="0" i="0" u="none" strike="noStrike" cap="none">
                          <a:solidFill>
                            <a:srgbClr val="FFFFFF"/>
                          </a:solidFill>
                          <a:latin typeface="Questrial"/>
                          <a:ea typeface="Questrial"/>
                          <a:cs typeface="Questrial"/>
                          <a:sym typeface="Questrial"/>
                        </a:rPr>
                        <a:t>160,000</a:t>
                      </a:r>
                      <a:endParaRPr sz="2800"/>
                    </a:p>
                  </a:txBody>
                  <a:tcPr marL="91425" marR="91425" marT="45700" marB="45700" anchor="ctr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i="0" u="none" strike="noStrike" cap="none">
                          <a:solidFill>
                            <a:srgbClr val="FFFFFF"/>
                          </a:solidFill>
                          <a:latin typeface="Questrial"/>
                          <a:ea typeface="Questrial"/>
                          <a:cs typeface="Questrial"/>
                          <a:sym typeface="Questrial"/>
                        </a:rPr>
                        <a:t>86,084</a:t>
                      </a:r>
                      <a:endParaRPr sz="2800"/>
                    </a:p>
                  </a:txBody>
                  <a:tcPr marL="91425" marR="91425" marT="45700" marB="45700" anchor="ctr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i="0" u="none" strike="noStrike" cap="none">
                          <a:solidFill>
                            <a:srgbClr val="FFFFFF"/>
                          </a:solidFill>
                          <a:latin typeface="Questrial"/>
                          <a:ea typeface="Questrial"/>
                          <a:cs typeface="Questrial"/>
                          <a:sym typeface="Questrial"/>
                        </a:rPr>
                        <a:t>96%</a:t>
                      </a:r>
                      <a:endParaRPr sz="2800"/>
                    </a:p>
                  </a:txBody>
                  <a:tcPr marL="91425" marR="91425" marT="45700" marB="45700" anchor="ctr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i="0" u="none" strike="noStrike" cap="none">
                          <a:solidFill>
                            <a:srgbClr val="FFFFFF"/>
                          </a:solidFill>
                          <a:latin typeface="Questrial"/>
                          <a:ea typeface="Questrial"/>
                          <a:cs typeface="Questrial"/>
                          <a:sym typeface="Questrial"/>
                        </a:rPr>
                        <a:t>83%</a:t>
                      </a:r>
                      <a:endParaRPr sz="2800"/>
                    </a:p>
                  </a:txBody>
                  <a:tcPr marL="91425" marR="91425" marT="45700" marB="45700" anchor="ctr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i="0" u="none" strike="noStrike" cap="none">
                          <a:solidFill>
                            <a:srgbClr val="FFFFFF"/>
                          </a:solidFill>
                          <a:latin typeface="Questrial"/>
                          <a:ea typeface="Questrial"/>
                          <a:cs typeface="Questrial"/>
                          <a:sym typeface="Questrial"/>
                        </a:rPr>
                        <a:t>33%</a:t>
                      </a:r>
                      <a:endParaRPr sz="2800"/>
                    </a:p>
                  </a:txBody>
                  <a:tcPr marL="91425" marR="91425" marT="45700" marB="45700" anchor="ctr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40000">
                <a:tc>
                  <a:txBody>
                    <a:bodyPr/>
                    <a:lstStyle/>
                    <a:p>
                      <a:pPr algn="ctr"/>
                      <a:r>
                        <a:rPr lang="en-US" sz="2800" b="0" i="0" u="none" strike="noStrike" cap="none">
                          <a:solidFill>
                            <a:srgbClr val="FFFFFF"/>
                          </a:solidFill>
                          <a:latin typeface="Questrial"/>
                          <a:ea typeface="Questrial"/>
                          <a:cs typeface="Questrial"/>
                          <a:sym typeface="Questrial"/>
                        </a:rPr>
                        <a:t>200,000</a:t>
                      </a:r>
                      <a:endParaRPr sz="2800"/>
                    </a:p>
                  </a:txBody>
                  <a:tcPr marL="91425" marR="91425" marT="45700" marB="45700" anchor="ctr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i="0" u="none" strike="noStrike" cap="none">
                          <a:solidFill>
                            <a:srgbClr val="FFFFFF"/>
                          </a:solidFill>
                          <a:latin typeface="Questrial"/>
                          <a:ea typeface="Questrial"/>
                          <a:cs typeface="Questrial"/>
                          <a:sym typeface="Questrial"/>
                        </a:rPr>
                        <a:t>93,131</a:t>
                      </a:r>
                      <a:endParaRPr sz="2800"/>
                    </a:p>
                  </a:txBody>
                  <a:tcPr marL="91425" marR="91425" marT="45700" marB="45700" anchor="ctr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i="0" u="none" strike="noStrike" cap="none">
                          <a:solidFill>
                            <a:srgbClr val="FFFFFF"/>
                          </a:solidFill>
                          <a:latin typeface="Questrial"/>
                          <a:ea typeface="Questrial"/>
                          <a:cs typeface="Questrial"/>
                          <a:sym typeface="Questrial"/>
                        </a:rPr>
                        <a:t>96%</a:t>
                      </a:r>
                      <a:endParaRPr sz="2800"/>
                    </a:p>
                  </a:txBody>
                  <a:tcPr marL="91425" marR="91425" marT="45700" marB="45700" anchor="ctr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i="0" u="none" strike="noStrike" cap="none">
                          <a:solidFill>
                            <a:srgbClr val="FFFFFF"/>
                          </a:solidFill>
                          <a:latin typeface="Questrial"/>
                          <a:ea typeface="Questrial"/>
                          <a:cs typeface="Questrial"/>
                          <a:sym typeface="Questrial"/>
                        </a:rPr>
                        <a:t>85%</a:t>
                      </a:r>
                      <a:endParaRPr sz="2800"/>
                    </a:p>
                  </a:txBody>
                  <a:tcPr marL="91425" marR="91425" marT="45700" marB="45700" anchor="ctr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i="0" u="none" strike="noStrike" cap="none">
                          <a:solidFill>
                            <a:srgbClr val="FFFFFF"/>
                          </a:solidFill>
                          <a:latin typeface="Questrial"/>
                          <a:ea typeface="Questrial"/>
                          <a:cs typeface="Questrial"/>
                          <a:sym typeface="Questrial"/>
                        </a:rPr>
                        <a:t>43%</a:t>
                      </a:r>
                      <a:endParaRPr sz="2800"/>
                    </a:p>
                  </a:txBody>
                  <a:tcPr marL="91425" marR="91425" marT="45700" marB="45700" anchor="ctr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TextBox 4"/>
          <p:cNvSpPr txBox="1"/>
          <p:nvPr/>
        </p:nvSpPr>
        <p:spPr>
          <a:xfrm>
            <a:off x="1022400" y="6600000"/>
            <a:ext cx="16243200" cy="21544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4985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hr-BA" sz="1400" dirty="0"/>
          </a:p>
          <a:p>
            <a:pPr marL="0" marR="0" lvl="0" indent="0" algn="l" rtl="0">
              <a:lnSpc>
                <a:spcPct val="12498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0" i="0" u="none" strike="noStrike" cap="none" dirty="0">
                <a:solidFill>
                  <a:srgbClr val="FFFFFF"/>
                </a:solidFill>
                <a:latin typeface="Questrial"/>
                <a:ea typeface="Questrial"/>
                <a:cs typeface="Questrial"/>
                <a:sym typeface="Questrial"/>
              </a:rPr>
              <a:t>Measured </a:t>
            </a:r>
            <a:r>
              <a:rPr lang="hr-BA" sz="2800" b="0" i="0" u="none" strike="noStrike" cap="none" dirty="0">
                <a:solidFill>
                  <a:srgbClr val="FFFFFF"/>
                </a:solidFill>
                <a:latin typeface="Questrial"/>
                <a:ea typeface="Questrial"/>
                <a:cs typeface="Questrial"/>
                <a:sym typeface="Questrial"/>
              </a:rPr>
              <a:t>self-play </a:t>
            </a:r>
            <a:r>
              <a:rPr lang="en-US" sz="2800" b="0" i="0" u="none" strike="noStrike" cap="none" dirty="0">
                <a:solidFill>
                  <a:srgbClr val="FFFFFF"/>
                </a:solidFill>
                <a:latin typeface="Questrial"/>
                <a:ea typeface="Questrial"/>
                <a:cs typeface="Questrial"/>
                <a:sym typeface="Questrial"/>
              </a:rPr>
              <a:t>after</a:t>
            </a:r>
            <a:r>
              <a:rPr lang="hr-BA" sz="2800" b="0" i="0" u="none" strike="noStrike" cap="none" dirty="0">
                <a:solidFill>
                  <a:srgbClr val="FFFFFF"/>
                </a:solidFill>
                <a:latin typeface="Questrial"/>
                <a:ea typeface="Questrial"/>
                <a:cs typeface="Questrial"/>
                <a:sym typeface="Questrial"/>
              </a:rPr>
              <a:t> training</a:t>
            </a:r>
            <a:r>
              <a:rPr lang="en-US" sz="2800" b="0" i="0" u="none" strike="noStrike" cap="none" dirty="0">
                <a:solidFill>
                  <a:srgbClr val="FFFFFF"/>
                </a:solidFill>
                <a:latin typeface="Questrial"/>
                <a:ea typeface="Questrial"/>
                <a:cs typeface="Questrial"/>
                <a:sym typeface="Questrial"/>
              </a:rPr>
              <a:t> on 300 games with learning off: mean 91,304, best game 173,236, 2048 in 95%, 4096 in 83%, 8192 in 44%</a:t>
            </a:r>
            <a:endParaRPr sz="2800" dirty="0"/>
          </a:p>
          <a:p>
            <a:pPr marL="0" marR="0" lvl="0" indent="0" algn="l" rtl="0">
              <a:lnSpc>
                <a:spcPct val="124985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dirty="0"/>
          </a:p>
          <a:p>
            <a:pPr marL="0" marR="0" lvl="0" indent="0" algn="l" rtl="0">
              <a:lnSpc>
                <a:spcPct val="12498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0" i="0" u="none" strike="noStrike" cap="none" dirty="0" err="1">
                <a:solidFill>
                  <a:srgbClr val="FFFFFF"/>
                </a:solidFill>
                <a:latin typeface="Questrial"/>
                <a:ea typeface="Questrial"/>
                <a:cs typeface="Questrial"/>
                <a:sym typeface="Questrial"/>
              </a:rPr>
              <a:t>Szubert</a:t>
            </a:r>
            <a:r>
              <a:rPr lang="en-US" sz="2800" b="0" i="0" u="none" strike="noStrike" cap="none" dirty="0">
                <a:solidFill>
                  <a:srgbClr val="FFFFFF"/>
                </a:solidFill>
                <a:latin typeface="Questrial"/>
                <a:ea typeface="Questrial"/>
                <a:cs typeface="Questrial"/>
                <a:sym typeface="Questrial"/>
              </a:rPr>
              <a:t> &amp; </a:t>
            </a:r>
            <a:r>
              <a:rPr lang="en-US" sz="2800" b="0" i="0" u="none" strike="noStrike" cap="none" dirty="0" err="1">
                <a:solidFill>
                  <a:srgbClr val="FFFFFF"/>
                </a:solidFill>
                <a:latin typeface="Questrial"/>
                <a:ea typeface="Questrial"/>
                <a:cs typeface="Questrial"/>
                <a:sym typeface="Questrial"/>
              </a:rPr>
              <a:t>Jaśkowski</a:t>
            </a:r>
            <a:r>
              <a:rPr lang="en-US" sz="2800" b="0" i="0" u="none" strike="noStrike" cap="none" dirty="0">
                <a:solidFill>
                  <a:srgbClr val="FFFFFF"/>
                </a:solidFill>
                <a:latin typeface="Questrial"/>
                <a:ea typeface="Questrial"/>
                <a:cs typeface="Questrial"/>
                <a:sym typeface="Questrial"/>
              </a:rPr>
              <a:t> (2014), who introduced the method, report mean scores around 100,000</a:t>
            </a:r>
            <a:endParaRPr sz="2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49</TotalTime>
  <Words>911</Words>
  <Application>Microsoft Office PowerPoint</Application>
  <PresentationFormat>Custom</PresentationFormat>
  <Paragraphs>125</Paragraphs>
  <Slides>17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Bricolage Grotesque</vt:lpstr>
      <vt:lpstr>Arial</vt:lpstr>
      <vt:lpstr>Questrial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Emir Baručija</cp:lastModifiedBy>
  <cp:revision>2</cp:revision>
  <dcterms:modified xsi:type="dcterms:W3CDTF">2026-09-18T20:27:10Z</dcterms:modified>
</cp:coreProperties>
</file>